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1.png"/><Relationship Id="rId3" Type="http://schemas.openxmlformats.org/officeDocument/2006/relationships/image" Target="../media/image-5-1.png"/><Relationship Id="rId4" Type="http://schemas.openxmlformats.org/officeDocument/2006/relationships/image" Target="../media/image-5-1.png"/><Relationship Id="rId5" Type="http://schemas.openxmlformats.org/officeDocument/2006/relationships/image" Target="../media/image-5-1.png"/><Relationship Id="rId6" Type="http://schemas.openxmlformats.org/officeDocument/2006/relationships/image" Target="../media/image-5-1.png"/><Relationship Id="rId7" Type="http://schemas.openxmlformats.org/officeDocument/2006/relationships/image" Target="../media/image-5-1.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F3B"/>
        </a:solidFill>
      </p:bgPr>
    </p:bg>
    <p:spTree>
      <p:nvGrpSpPr>
        <p:cNvPr id="1" name=""/>
        <p:cNvGrpSpPr/>
        <p:nvPr/>
      </p:nvGrpSpPr>
      <p:grpSpPr>
        <a:xfrm>
          <a:off x="0" y="0"/>
          <a:ext cx="0" cy="0"/>
          <a:chOff x="0" y="0"/>
          <a:chExt cx="0" cy="0"/>
        </a:xfrm>
      </p:grpSpPr>
      <p:sp>
        <p:nvSpPr>
          <p:cNvPr id="2" name="Shape 0"/>
          <p:cNvSpPr/>
          <p:nvPr/>
        </p:nvSpPr>
        <p:spPr>
          <a:xfrm>
            <a:off x="8869680" y="-1645920"/>
            <a:ext cx="5486400" cy="5486400"/>
          </a:xfrm>
          <a:prstGeom prst="ellipse">
            <a:avLst/>
          </a:prstGeom>
          <a:solidFill>
            <a:srgbClr val="12152B"/>
          </a:solidFill>
          <a:ln/>
        </p:spPr>
      </p:sp>
      <p:pic>
        <p:nvPicPr>
          <p:cNvPr id="3" name="Image 0" descr="icon_hook.png">    </p:cNvPr>
          <p:cNvPicPr>
            <a:picLocks noChangeAspect="1"/>
          </p:cNvPicPr>
          <p:nvPr/>
        </p:nvPicPr>
        <p:blipFill>
          <a:blip r:embed="rId1"/>
          <a:stretch>
            <a:fillRect/>
          </a:stretch>
        </p:blipFill>
        <p:spPr>
          <a:xfrm>
            <a:off x="9418320" y="548640"/>
            <a:ext cx="1371600" cy="1371600"/>
          </a:xfrm>
          <a:prstGeom prst="rect">
            <a:avLst/>
          </a:prstGeom>
        </p:spPr>
      </p:pic>
      <p:sp>
        <p:nvSpPr>
          <p:cNvPr id="4" name="Text 1"/>
          <p:cNvSpPr/>
          <p:nvPr/>
        </p:nvSpPr>
        <p:spPr>
          <a:xfrm>
            <a:off x="731520" y="2286000"/>
            <a:ext cx="9601200" cy="1097280"/>
          </a:xfrm>
          <a:prstGeom prst="rect">
            <a:avLst/>
          </a:prstGeom>
          <a:noFill/>
          <a:ln/>
        </p:spPr>
        <p:txBody>
          <a:bodyPr wrap="square" rtlCol="0" anchor="ctr"/>
          <a:lstStyle/>
          <a:p>
            <a:pPr indent="0" marL="0">
              <a:buNone/>
            </a:pPr>
            <a:r>
              <a:rPr lang="en-US" sz="4600" b="1" dirty="0">
                <a:solidFill>
                  <a:srgbClr val="F4F1EA"/>
                </a:solidFill>
                <a:latin typeface="Georgia" pitchFamily="34" charset="0"/>
                <a:ea typeface="Georgia" pitchFamily="34" charset="-122"/>
                <a:cs typeface="Georgia" pitchFamily="34" charset="-120"/>
              </a:rPr>
              <a:t>Don't Take the Bait</a:t>
            </a:r>
            <a:endParaRPr lang="en-US" sz="4600" dirty="0"/>
          </a:p>
        </p:txBody>
      </p:sp>
      <p:sp>
        <p:nvSpPr>
          <p:cNvPr id="5" name="Text 2"/>
          <p:cNvSpPr/>
          <p:nvPr/>
        </p:nvSpPr>
        <p:spPr>
          <a:xfrm>
            <a:off x="731520" y="3200400"/>
            <a:ext cx="9144000" cy="640080"/>
          </a:xfrm>
          <a:prstGeom prst="rect">
            <a:avLst/>
          </a:prstGeom>
          <a:noFill/>
          <a:ln/>
        </p:spPr>
        <p:txBody>
          <a:bodyPr wrap="square" rtlCol="0" anchor="ctr"/>
          <a:lstStyle/>
          <a:p>
            <a:pPr indent="0" marL="0">
              <a:buNone/>
            </a:pPr>
            <a:r>
              <a:rPr lang="en-US" sz="2400" i="1" dirty="0">
                <a:solidFill>
                  <a:srgbClr val="E4572E"/>
                </a:solidFill>
                <a:latin typeface="Georgia" pitchFamily="34" charset="0"/>
                <a:ea typeface="Georgia" pitchFamily="34" charset="-122"/>
                <a:cs typeface="Georgia" pitchFamily="34" charset="-120"/>
              </a:rPr>
              <a:t>Phishing Awareness Training</a:t>
            </a:r>
            <a:endParaRPr lang="en-US" sz="2400" dirty="0"/>
          </a:p>
        </p:txBody>
      </p:sp>
      <p:sp>
        <p:nvSpPr>
          <p:cNvPr id="6" name="Text 3"/>
          <p:cNvSpPr/>
          <p:nvPr/>
        </p:nvSpPr>
        <p:spPr>
          <a:xfrm>
            <a:off x="731520" y="3931920"/>
            <a:ext cx="8229600" cy="457200"/>
          </a:xfrm>
          <a:prstGeom prst="rect">
            <a:avLst/>
          </a:prstGeom>
          <a:noFill/>
          <a:ln/>
        </p:spPr>
        <p:txBody>
          <a:bodyPr wrap="square" rtlCol="0" anchor="ctr"/>
          <a:lstStyle/>
          <a:p>
            <a:pPr indent="0" marL="0">
              <a:buNone/>
            </a:pPr>
            <a:r>
              <a:rPr lang="en-US" sz="1500" dirty="0">
                <a:solidFill>
                  <a:srgbClr val="B8BCD6"/>
                </a:solidFill>
              </a:rPr>
              <a:t>Recognizing, resisting, and reporting social engineering attacks</a:t>
            </a:r>
            <a:endParaRPr lang="en-US" sz="1500" dirty="0"/>
          </a:p>
        </p:txBody>
      </p:sp>
      <p:sp>
        <p:nvSpPr>
          <p:cNvPr id="7" name="Text 4"/>
          <p:cNvSpPr/>
          <p:nvPr/>
        </p:nvSpPr>
        <p:spPr>
          <a:xfrm>
            <a:off x="731520" y="6126480"/>
            <a:ext cx="7315200" cy="365760"/>
          </a:xfrm>
          <a:prstGeom prst="rect">
            <a:avLst/>
          </a:prstGeom>
          <a:noFill/>
          <a:ln/>
        </p:spPr>
        <p:txBody>
          <a:bodyPr wrap="square" rtlCol="0" anchor="ctr"/>
          <a:lstStyle/>
          <a:p>
            <a:pPr indent="0" marL="0">
              <a:buNone/>
            </a:pPr>
            <a:r>
              <a:rPr lang="en-US" sz="1200" dirty="0">
                <a:solidFill>
                  <a:srgbClr val="8890B5"/>
                </a:solidFill>
              </a:rPr>
              <a:t>CodeAlpha Cybersecurity Internship  •  Task 2</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822960"/>
          </a:xfrm>
          <a:prstGeom prst="rect">
            <a:avLst/>
          </a:prstGeom>
          <a:noFill/>
          <a:ln/>
        </p:spPr>
        <p:txBody>
          <a:bodyPr wrap="square" rtlCol="0" anchor="ctr"/>
          <a:lstStyle/>
          <a:p>
            <a:pPr algn="l" indent="0" marL="0">
              <a:buNone/>
            </a:pPr>
            <a:r>
              <a:rPr lang="en-US" sz="3000" b="1" dirty="0">
                <a:solidFill>
                  <a:srgbClr val="1B1F3B"/>
                </a:solidFill>
                <a:latin typeface="Georgia" pitchFamily="34" charset="0"/>
                <a:ea typeface="Georgia" pitchFamily="34" charset="-122"/>
                <a:cs typeface="Georgia" pitchFamily="34" charset="-120"/>
              </a:rPr>
              <a:t>What Is Phishing?</a:t>
            </a:r>
            <a:endParaRPr lang="en-US" sz="3000" dirty="0"/>
          </a:p>
        </p:txBody>
      </p:sp>
      <p:sp>
        <p:nvSpPr>
          <p:cNvPr id="3" name="Shape 1"/>
          <p:cNvSpPr/>
          <p:nvPr/>
        </p:nvSpPr>
        <p:spPr>
          <a:xfrm>
            <a:off x="548640" y="1371600"/>
            <a:ext cx="6400800" cy="4846320"/>
          </a:xfrm>
          <a:prstGeom prst="rect">
            <a:avLst/>
          </a:prstGeom>
          <a:solidFill>
            <a:srgbClr val="F2F3F7"/>
          </a:solidFill>
          <a:ln/>
        </p:spPr>
      </p:sp>
      <p:sp>
        <p:nvSpPr>
          <p:cNvPr id="4" name="Text 2"/>
          <p:cNvSpPr/>
          <p:nvPr/>
        </p:nvSpPr>
        <p:spPr>
          <a:xfrm>
            <a:off x="868680" y="1645920"/>
            <a:ext cx="5943600" cy="1463040"/>
          </a:xfrm>
          <a:prstGeom prst="rect">
            <a:avLst/>
          </a:prstGeom>
          <a:noFill/>
          <a:ln/>
        </p:spPr>
        <p:txBody>
          <a:bodyPr wrap="square" rtlCol="0" anchor="ctr"/>
          <a:lstStyle/>
          <a:p>
            <a:pPr indent="0" marL="0">
              <a:lnSpc>
                <a:spcPct val="120000"/>
              </a:lnSpc>
              <a:buNone/>
            </a:pPr>
            <a:r>
              <a:rPr lang="en-US" sz="1600" dirty="0">
                <a:solidFill>
                  <a:srgbClr val="4A5568"/>
                </a:solidFill>
                <a:latin typeface="Calibri" pitchFamily="34" charset="0"/>
                <a:ea typeface="Calibri" pitchFamily="34" charset="-122"/>
                <a:cs typeface="Calibri" pitchFamily="34" charset="-120"/>
              </a:rPr>
              <a:t>Phishing is a social engineering attack where someone impersonates a trusted source </a:t>
            </a:r>
            <a:pPr indent="0" marL="0">
              <a:lnSpc>
                <a:spcPct val="120000"/>
              </a:lnSpc>
              <a:buNone/>
            </a:pPr>
            <a:r>
              <a:rPr lang="en-US" sz="1600" dirty="0">
                <a:solidFill>
                  <a:srgbClr val="4A5568"/>
                </a:solidFill>
                <a:latin typeface="Calibri" pitchFamily="34" charset="0"/>
                <a:ea typeface="Calibri" pitchFamily="34" charset="-122"/>
                <a:cs typeface="Calibri" pitchFamily="34" charset="-120"/>
              </a:rPr>
              <a:t>to trick you into handing over sensitive information, clicking a malicious link, or installing malware.</a:t>
            </a:r>
            <a:endParaRPr lang="en-US" sz="1600" dirty="0"/>
          </a:p>
        </p:txBody>
      </p:sp>
      <p:sp>
        <p:nvSpPr>
          <p:cNvPr id="5" name="Shape 3"/>
          <p:cNvSpPr/>
          <p:nvPr/>
        </p:nvSpPr>
        <p:spPr>
          <a:xfrm>
            <a:off x="868680" y="3346704"/>
            <a:ext cx="128016" cy="128016"/>
          </a:xfrm>
          <a:prstGeom prst="ellipse">
            <a:avLst/>
          </a:prstGeom>
          <a:solidFill>
            <a:srgbClr val="E4572E"/>
          </a:solidFill>
          <a:ln/>
        </p:spPr>
      </p:sp>
      <p:sp>
        <p:nvSpPr>
          <p:cNvPr id="6" name="Text 4"/>
          <p:cNvSpPr/>
          <p:nvPr/>
        </p:nvSpPr>
        <p:spPr>
          <a:xfrm>
            <a:off x="1143000" y="3218688"/>
            <a:ext cx="5577840" cy="548640"/>
          </a:xfrm>
          <a:prstGeom prst="rect">
            <a:avLst/>
          </a:prstGeom>
          <a:noFill/>
          <a:ln/>
        </p:spPr>
        <p:txBody>
          <a:bodyPr wrap="square" rtlCol="0" anchor="ctr"/>
          <a:lstStyle/>
          <a:p>
            <a:pPr indent="0" marL="0">
              <a:buNone/>
            </a:pPr>
            <a:r>
              <a:rPr lang="en-US" sz="1400" dirty="0">
                <a:solidFill>
                  <a:srgbClr val="1B1F3B"/>
                </a:solidFill>
                <a:latin typeface="Calibri" pitchFamily="34" charset="0"/>
                <a:ea typeface="Calibri" pitchFamily="34" charset="-122"/>
                <a:cs typeface="Calibri" pitchFamily="34" charset="-120"/>
              </a:rPr>
              <a:t>It targets people, not systems — the weakest link is human trust.</a:t>
            </a:r>
            <a:endParaRPr lang="en-US" sz="1400" dirty="0"/>
          </a:p>
        </p:txBody>
      </p:sp>
      <p:sp>
        <p:nvSpPr>
          <p:cNvPr id="7" name="Shape 5"/>
          <p:cNvSpPr/>
          <p:nvPr/>
        </p:nvSpPr>
        <p:spPr>
          <a:xfrm>
            <a:off x="868680" y="4123944"/>
            <a:ext cx="128016" cy="128016"/>
          </a:xfrm>
          <a:prstGeom prst="ellipse">
            <a:avLst/>
          </a:prstGeom>
          <a:solidFill>
            <a:srgbClr val="E4572E"/>
          </a:solidFill>
          <a:ln/>
        </p:spPr>
      </p:sp>
      <p:sp>
        <p:nvSpPr>
          <p:cNvPr id="8" name="Text 6"/>
          <p:cNvSpPr/>
          <p:nvPr/>
        </p:nvSpPr>
        <p:spPr>
          <a:xfrm>
            <a:off x="1143000" y="3995928"/>
            <a:ext cx="5577840" cy="548640"/>
          </a:xfrm>
          <a:prstGeom prst="rect">
            <a:avLst/>
          </a:prstGeom>
          <a:noFill/>
          <a:ln/>
        </p:spPr>
        <p:txBody>
          <a:bodyPr wrap="square" rtlCol="0" anchor="ctr"/>
          <a:lstStyle/>
          <a:p>
            <a:pPr indent="0" marL="0">
              <a:buNone/>
            </a:pPr>
            <a:r>
              <a:rPr lang="en-US" sz="1400" dirty="0">
                <a:solidFill>
                  <a:srgbClr val="1B1F3B"/>
                </a:solidFill>
                <a:latin typeface="Calibri" pitchFamily="34" charset="0"/>
                <a:ea typeface="Calibri" pitchFamily="34" charset="-122"/>
                <a:cs typeface="Calibri" pitchFamily="34" charset="-120"/>
              </a:rPr>
              <a:t>Attackers impersonate banks, coworkers, delivery services, or even your boss.</a:t>
            </a:r>
            <a:endParaRPr lang="en-US" sz="1400" dirty="0"/>
          </a:p>
        </p:txBody>
      </p:sp>
      <p:sp>
        <p:nvSpPr>
          <p:cNvPr id="9" name="Shape 7"/>
          <p:cNvSpPr/>
          <p:nvPr/>
        </p:nvSpPr>
        <p:spPr>
          <a:xfrm>
            <a:off x="868680" y="4901184"/>
            <a:ext cx="128016" cy="128016"/>
          </a:xfrm>
          <a:prstGeom prst="ellipse">
            <a:avLst/>
          </a:prstGeom>
          <a:solidFill>
            <a:srgbClr val="E4572E"/>
          </a:solidFill>
          <a:ln/>
        </p:spPr>
      </p:sp>
      <p:sp>
        <p:nvSpPr>
          <p:cNvPr id="10" name="Text 8"/>
          <p:cNvSpPr/>
          <p:nvPr/>
        </p:nvSpPr>
        <p:spPr>
          <a:xfrm>
            <a:off x="1143000" y="4773168"/>
            <a:ext cx="5577840" cy="548640"/>
          </a:xfrm>
          <a:prstGeom prst="rect">
            <a:avLst/>
          </a:prstGeom>
          <a:noFill/>
          <a:ln/>
        </p:spPr>
        <p:txBody>
          <a:bodyPr wrap="square" rtlCol="0" anchor="ctr"/>
          <a:lstStyle/>
          <a:p>
            <a:pPr indent="0" marL="0">
              <a:buNone/>
            </a:pPr>
            <a:r>
              <a:rPr lang="en-US" sz="1400" dirty="0">
                <a:solidFill>
                  <a:srgbClr val="1B1F3B"/>
                </a:solidFill>
                <a:latin typeface="Calibri" pitchFamily="34" charset="0"/>
                <a:ea typeface="Calibri" pitchFamily="34" charset="-122"/>
                <a:cs typeface="Calibri" pitchFamily="34" charset="-120"/>
              </a:rPr>
              <a:t>The goal: credentials, payment details, or a foothold inside a network.</a:t>
            </a:r>
            <a:endParaRPr lang="en-US" sz="1400" dirty="0"/>
          </a:p>
        </p:txBody>
      </p:sp>
      <p:sp>
        <p:nvSpPr>
          <p:cNvPr id="11" name="Shape 9"/>
          <p:cNvSpPr/>
          <p:nvPr/>
        </p:nvSpPr>
        <p:spPr>
          <a:xfrm>
            <a:off x="7223760" y="1371600"/>
            <a:ext cx="4389120" cy="4846320"/>
          </a:xfrm>
          <a:prstGeom prst="rect">
            <a:avLst/>
          </a:prstGeom>
          <a:solidFill>
            <a:srgbClr val="1B1F3B"/>
          </a:solidFill>
          <a:ln/>
        </p:spPr>
      </p:sp>
      <p:pic>
        <p:nvPicPr>
          <p:cNvPr id="12" name="Image 0" descr="icon_warning.png">    </p:cNvPr>
          <p:cNvPicPr>
            <a:picLocks noChangeAspect="1"/>
          </p:cNvPicPr>
          <p:nvPr/>
        </p:nvPicPr>
        <p:blipFill>
          <a:blip r:embed="rId1"/>
          <a:stretch>
            <a:fillRect/>
          </a:stretch>
        </p:blipFill>
        <p:spPr>
          <a:xfrm>
            <a:off x="9006840" y="1737360"/>
            <a:ext cx="822960" cy="822960"/>
          </a:xfrm>
          <a:prstGeom prst="rect">
            <a:avLst/>
          </a:prstGeom>
        </p:spPr>
      </p:pic>
      <p:sp>
        <p:nvSpPr>
          <p:cNvPr id="13" name="Text 10"/>
          <p:cNvSpPr/>
          <p:nvPr/>
        </p:nvSpPr>
        <p:spPr>
          <a:xfrm>
            <a:off x="7589520" y="2743200"/>
            <a:ext cx="3657600" cy="457200"/>
          </a:xfrm>
          <a:prstGeom prst="rect">
            <a:avLst/>
          </a:prstGeom>
          <a:noFill/>
          <a:ln/>
        </p:spPr>
        <p:txBody>
          <a:bodyPr wrap="square" rtlCol="0" anchor="ctr"/>
          <a:lstStyle/>
          <a:p>
            <a:pPr indent="0" marL="0">
              <a:buNone/>
            </a:pPr>
            <a:r>
              <a:rPr lang="en-US" sz="1800" b="1" dirty="0">
                <a:solidFill>
                  <a:srgbClr val="F4F1EA"/>
                </a:solidFill>
                <a:latin typeface="Georgia" pitchFamily="34" charset="0"/>
                <a:ea typeface="Georgia" pitchFamily="34" charset="-122"/>
                <a:cs typeface="Georgia" pitchFamily="34" charset="-120"/>
              </a:rPr>
              <a:t>Why it works</a:t>
            </a:r>
            <a:endParaRPr lang="en-US" sz="1800" dirty="0"/>
          </a:p>
        </p:txBody>
      </p:sp>
      <p:sp>
        <p:nvSpPr>
          <p:cNvPr id="14" name="Text 11"/>
          <p:cNvSpPr/>
          <p:nvPr/>
        </p:nvSpPr>
        <p:spPr>
          <a:xfrm>
            <a:off x="7589520" y="3291840"/>
            <a:ext cx="3657600" cy="2560320"/>
          </a:xfrm>
          <a:prstGeom prst="rect">
            <a:avLst/>
          </a:prstGeom>
          <a:noFill/>
          <a:ln/>
        </p:spPr>
        <p:txBody>
          <a:bodyPr wrap="square" rtlCol="0" anchor="ctr"/>
          <a:lstStyle/>
          <a:p>
            <a:pPr indent="0" marL="0">
              <a:lnSpc>
                <a:spcPct val="130000"/>
              </a:lnSpc>
              <a:buNone/>
            </a:pPr>
            <a:r>
              <a:rPr lang="en-US" sz="1350" dirty="0">
                <a:solidFill>
                  <a:srgbClr val="D7DAEC"/>
                </a:solidFill>
                <a:latin typeface="Calibri" pitchFamily="34" charset="0"/>
                <a:ea typeface="Calibri" pitchFamily="34" charset="-122"/>
                <a:cs typeface="Calibri" pitchFamily="34" charset="-120"/>
              </a:rPr>
              <a:t>Phishing exploits fast, automatic thinking — the same instincts that let you react quickly in daily life become a liability under manufactured urgency and pressure.</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822960"/>
          </a:xfrm>
          <a:prstGeom prst="rect">
            <a:avLst/>
          </a:prstGeom>
          <a:noFill/>
          <a:ln/>
        </p:spPr>
        <p:txBody>
          <a:bodyPr wrap="square" rtlCol="0" anchor="ctr"/>
          <a:lstStyle/>
          <a:p>
            <a:pPr algn="l" indent="0" marL="0">
              <a:buNone/>
            </a:pPr>
            <a:r>
              <a:rPr lang="en-US" sz="3000" b="1" dirty="0">
                <a:solidFill>
                  <a:srgbClr val="1B1F3B"/>
                </a:solidFill>
                <a:latin typeface="Georgia" pitchFamily="34" charset="0"/>
                <a:ea typeface="Georgia" pitchFamily="34" charset="-122"/>
                <a:cs typeface="Georgia" pitchFamily="34" charset="-120"/>
              </a:rPr>
              <a:t>Types of Phishing Attacks</a:t>
            </a:r>
            <a:endParaRPr lang="en-US" sz="3000" dirty="0"/>
          </a:p>
        </p:txBody>
      </p:sp>
      <p:sp>
        <p:nvSpPr>
          <p:cNvPr id="3" name="Shape 1"/>
          <p:cNvSpPr/>
          <p:nvPr/>
        </p:nvSpPr>
        <p:spPr>
          <a:xfrm>
            <a:off x="548640" y="1554480"/>
            <a:ext cx="2697480" cy="4480560"/>
          </a:xfrm>
          <a:prstGeom prst="rect">
            <a:avLst/>
          </a:prstGeom>
          <a:solidFill>
            <a:srgbClr val="1B1F3B"/>
          </a:solidFill>
          <a:ln/>
        </p:spPr>
      </p:sp>
      <p:sp>
        <p:nvSpPr>
          <p:cNvPr id="4" name="Shape 2"/>
          <p:cNvSpPr/>
          <p:nvPr/>
        </p:nvSpPr>
        <p:spPr>
          <a:xfrm>
            <a:off x="1440180" y="2011680"/>
            <a:ext cx="914400" cy="914400"/>
          </a:xfrm>
          <a:prstGeom prst="ellipse">
            <a:avLst/>
          </a:prstGeom>
          <a:solidFill>
            <a:srgbClr val="2A2F55"/>
          </a:solidFill>
          <a:ln/>
        </p:spPr>
      </p:sp>
      <p:pic>
        <p:nvPicPr>
          <p:cNvPr id="5" name="Image 0" descr="icon_email.png">    </p:cNvPr>
          <p:cNvPicPr>
            <a:picLocks noChangeAspect="1"/>
          </p:cNvPicPr>
          <p:nvPr/>
        </p:nvPicPr>
        <p:blipFill>
          <a:blip r:embed="rId1"/>
          <a:stretch>
            <a:fillRect/>
          </a:stretch>
        </p:blipFill>
        <p:spPr>
          <a:xfrm>
            <a:off x="1604772" y="2176272"/>
            <a:ext cx="585216" cy="585216"/>
          </a:xfrm>
          <a:prstGeom prst="rect">
            <a:avLst/>
          </a:prstGeom>
        </p:spPr>
      </p:pic>
      <p:sp>
        <p:nvSpPr>
          <p:cNvPr id="6" name="Text 3"/>
          <p:cNvSpPr/>
          <p:nvPr/>
        </p:nvSpPr>
        <p:spPr>
          <a:xfrm>
            <a:off x="685800" y="3246120"/>
            <a:ext cx="2423160" cy="640080"/>
          </a:xfrm>
          <a:prstGeom prst="rect">
            <a:avLst/>
          </a:prstGeom>
          <a:noFill/>
          <a:ln/>
        </p:spPr>
        <p:txBody>
          <a:bodyPr wrap="square" rtlCol="0" anchor="ctr"/>
          <a:lstStyle/>
          <a:p>
            <a:pPr algn="ctr" indent="0" marL="0">
              <a:buNone/>
            </a:pPr>
            <a:r>
              <a:rPr lang="en-US" sz="1550" b="1" dirty="0">
                <a:solidFill>
                  <a:srgbClr val="F4F1EA"/>
                </a:solidFill>
                <a:latin typeface="Georgia" pitchFamily="34" charset="0"/>
                <a:ea typeface="Georgia" pitchFamily="34" charset="-122"/>
                <a:cs typeface="Georgia" pitchFamily="34" charset="-120"/>
              </a:rPr>
              <a:t>Email Phishing</a:t>
            </a:r>
            <a:endParaRPr lang="en-US" sz="1550" dirty="0"/>
          </a:p>
        </p:txBody>
      </p:sp>
      <p:sp>
        <p:nvSpPr>
          <p:cNvPr id="7" name="Text 4"/>
          <p:cNvSpPr/>
          <p:nvPr/>
        </p:nvSpPr>
        <p:spPr>
          <a:xfrm>
            <a:off x="731520" y="3886200"/>
            <a:ext cx="2331720" cy="1920240"/>
          </a:xfrm>
          <a:prstGeom prst="rect">
            <a:avLst/>
          </a:prstGeom>
          <a:noFill/>
          <a:ln/>
        </p:spPr>
        <p:txBody>
          <a:bodyPr wrap="square" rtlCol="0" anchor="ctr"/>
          <a:lstStyle/>
          <a:p>
            <a:pPr algn="ctr" indent="0" marL="0">
              <a:lnSpc>
                <a:spcPct val="120000"/>
              </a:lnSpc>
              <a:buNone/>
            </a:pPr>
            <a:r>
              <a:rPr lang="en-US" sz="1200" dirty="0">
                <a:solidFill>
                  <a:srgbClr val="C7CAE4"/>
                </a:solidFill>
                <a:latin typeface="Calibri" pitchFamily="34" charset="0"/>
                <a:ea typeface="Calibri" pitchFamily="34" charset="-122"/>
                <a:cs typeface="Calibri" pitchFamily="34" charset="-120"/>
              </a:rPr>
              <a:t>Mass emails impersonating banks or services, sent to thousands hoping a few click.</a:t>
            </a:r>
            <a:endParaRPr lang="en-US" sz="1200" dirty="0"/>
          </a:p>
        </p:txBody>
      </p:sp>
      <p:sp>
        <p:nvSpPr>
          <p:cNvPr id="8" name="Shape 5"/>
          <p:cNvSpPr/>
          <p:nvPr/>
        </p:nvSpPr>
        <p:spPr>
          <a:xfrm>
            <a:off x="3474720" y="1554480"/>
            <a:ext cx="2697480" cy="4480560"/>
          </a:xfrm>
          <a:prstGeom prst="rect">
            <a:avLst/>
          </a:prstGeom>
          <a:solidFill>
            <a:srgbClr val="F2F3F7"/>
          </a:solidFill>
          <a:ln/>
        </p:spPr>
      </p:sp>
      <p:sp>
        <p:nvSpPr>
          <p:cNvPr id="9" name="Shape 6"/>
          <p:cNvSpPr/>
          <p:nvPr/>
        </p:nvSpPr>
        <p:spPr>
          <a:xfrm>
            <a:off x="4366260" y="2011680"/>
            <a:ext cx="914400" cy="914400"/>
          </a:xfrm>
          <a:prstGeom prst="ellipse">
            <a:avLst/>
          </a:prstGeom>
          <a:solidFill>
            <a:srgbClr val="1B1F3B"/>
          </a:solidFill>
          <a:ln/>
        </p:spPr>
      </p:sp>
      <p:pic>
        <p:nvPicPr>
          <p:cNvPr id="10" name="Image 1" descr="icon_whaling.png">    </p:cNvPr>
          <p:cNvPicPr>
            <a:picLocks noChangeAspect="1"/>
          </p:cNvPicPr>
          <p:nvPr/>
        </p:nvPicPr>
        <p:blipFill>
          <a:blip r:embed="rId2"/>
          <a:stretch>
            <a:fillRect/>
          </a:stretch>
        </p:blipFill>
        <p:spPr>
          <a:xfrm>
            <a:off x="4530852" y="2176272"/>
            <a:ext cx="585216" cy="585216"/>
          </a:xfrm>
          <a:prstGeom prst="rect">
            <a:avLst/>
          </a:prstGeom>
        </p:spPr>
      </p:pic>
      <p:sp>
        <p:nvSpPr>
          <p:cNvPr id="11" name="Text 7"/>
          <p:cNvSpPr/>
          <p:nvPr/>
        </p:nvSpPr>
        <p:spPr>
          <a:xfrm>
            <a:off x="3611880" y="3246120"/>
            <a:ext cx="2423160" cy="640080"/>
          </a:xfrm>
          <a:prstGeom prst="rect">
            <a:avLst/>
          </a:prstGeom>
          <a:noFill/>
          <a:ln/>
        </p:spPr>
        <p:txBody>
          <a:bodyPr wrap="square" rtlCol="0" anchor="ctr"/>
          <a:lstStyle/>
          <a:p>
            <a:pPr algn="ctr" indent="0" marL="0">
              <a:buNone/>
            </a:pPr>
            <a:r>
              <a:rPr lang="en-US" sz="1550" b="1" dirty="0">
                <a:solidFill>
                  <a:srgbClr val="1B1F3B"/>
                </a:solidFill>
                <a:latin typeface="Georgia" pitchFamily="34" charset="0"/>
                <a:ea typeface="Georgia" pitchFamily="34" charset="-122"/>
                <a:cs typeface="Georgia" pitchFamily="34" charset="-120"/>
              </a:rPr>
              <a:t>Spear Phishing &amp; Whaling</a:t>
            </a:r>
            <a:endParaRPr lang="en-US" sz="1550" dirty="0"/>
          </a:p>
        </p:txBody>
      </p:sp>
      <p:sp>
        <p:nvSpPr>
          <p:cNvPr id="12" name="Text 8"/>
          <p:cNvSpPr/>
          <p:nvPr/>
        </p:nvSpPr>
        <p:spPr>
          <a:xfrm>
            <a:off x="3657600" y="3886200"/>
            <a:ext cx="2331720" cy="1920240"/>
          </a:xfrm>
          <a:prstGeom prst="rect">
            <a:avLst/>
          </a:prstGeom>
          <a:noFill/>
          <a:ln/>
        </p:spPr>
        <p:txBody>
          <a:bodyPr wrap="square" rtlCol="0" anchor="ctr"/>
          <a:lstStyle/>
          <a:p>
            <a:pPr algn="ctr" indent="0" marL="0">
              <a:lnSpc>
                <a:spcPct val="120000"/>
              </a:lnSpc>
              <a:buNone/>
            </a:pPr>
            <a:r>
              <a:rPr lang="en-US" sz="1200" dirty="0">
                <a:solidFill>
                  <a:srgbClr val="4A5568"/>
                </a:solidFill>
                <a:latin typeface="Calibri" pitchFamily="34" charset="0"/>
                <a:ea typeface="Calibri" pitchFamily="34" charset="-122"/>
                <a:cs typeface="Calibri" pitchFamily="34" charset="-120"/>
              </a:rPr>
              <a:t>Targeted at a specific person or executive, using researched personal details.</a:t>
            </a:r>
            <a:endParaRPr lang="en-US" sz="1200" dirty="0"/>
          </a:p>
        </p:txBody>
      </p:sp>
      <p:sp>
        <p:nvSpPr>
          <p:cNvPr id="13" name="Shape 9"/>
          <p:cNvSpPr/>
          <p:nvPr/>
        </p:nvSpPr>
        <p:spPr>
          <a:xfrm>
            <a:off x="6400800" y="1554480"/>
            <a:ext cx="2697480" cy="4480560"/>
          </a:xfrm>
          <a:prstGeom prst="rect">
            <a:avLst/>
          </a:prstGeom>
          <a:solidFill>
            <a:srgbClr val="1B1F3B"/>
          </a:solidFill>
          <a:ln/>
        </p:spPr>
      </p:sp>
      <p:sp>
        <p:nvSpPr>
          <p:cNvPr id="14" name="Shape 10"/>
          <p:cNvSpPr/>
          <p:nvPr/>
        </p:nvSpPr>
        <p:spPr>
          <a:xfrm>
            <a:off x="7292340" y="2011680"/>
            <a:ext cx="914400" cy="914400"/>
          </a:xfrm>
          <a:prstGeom prst="ellipse">
            <a:avLst/>
          </a:prstGeom>
          <a:solidFill>
            <a:srgbClr val="2A2F55"/>
          </a:solidFill>
          <a:ln/>
        </p:spPr>
      </p:sp>
      <p:pic>
        <p:nvPicPr>
          <p:cNvPr id="15" name="Image 2" descr="icon_smishing.png">    </p:cNvPr>
          <p:cNvPicPr>
            <a:picLocks noChangeAspect="1"/>
          </p:cNvPicPr>
          <p:nvPr/>
        </p:nvPicPr>
        <p:blipFill>
          <a:blip r:embed="rId3"/>
          <a:stretch>
            <a:fillRect/>
          </a:stretch>
        </p:blipFill>
        <p:spPr>
          <a:xfrm>
            <a:off x="7456932" y="2176272"/>
            <a:ext cx="585216" cy="585216"/>
          </a:xfrm>
          <a:prstGeom prst="rect">
            <a:avLst/>
          </a:prstGeom>
        </p:spPr>
      </p:pic>
      <p:sp>
        <p:nvSpPr>
          <p:cNvPr id="16" name="Text 11"/>
          <p:cNvSpPr/>
          <p:nvPr/>
        </p:nvSpPr>
        <p:spPr>
          <a:xfrm>
            <a:off x="6537960" y="3246120"/>
            <a:ext cx="2423160" cy="640080"/>
          </a:xfrm>
          <a:prstGeom prst="rect">
            <a:avLst/>
          </a:prstGeom>
          <a:noFill/>
          <a:ln/>
        </p:spPr>
        <p:txBody>
          <a:bodyPr wrap="square" rtlCol="0" anchor="ctr"/>
          <a:lstStyle/>
          <a:p>
            <a:pPr algn="ctr" indent="0" marL="0">
              <a:buNone/>
            </a:pPr>
            <a:r>
              <a:rPr lang="en-US" sz="1550" b="1" dirty="0">
                <a:solidFill>
                  <a:srgbClr val="F4F1EA"/>
                </a:solidFill>
                <a:latin typeface="Georgia" pitchFamily="34" charset="0"/>
                <a:ea typeface="Georgia" pitchFamily="34" charset="-122"/>
                <a:cs typeface="Georgia" pitchFamily="34" charset="-120"/>
              </a:rPr>
              <a:t>Smishing</a:t>
            </a:r>
            <a:endParaRPr lang="en-US" sz="1550" dirty="0"/>
          </a:p>
        </p:txBody>
      </p:sp>
      <p:sp>
        <p:nvSpPr>
          <p:cNvPr id="17" name="Text 12"/>
          <p:cNvSpPr/>
          <p:nvPr/>
        </p:nvSpPr>
        <p:spPr>
          <a:xfrm>
            <a:off x="6583680" y="3886200"/>
            <a:ext cx="2331720" cy="1920240"/>
          </a:xfrm>
          <a:prstGeom prst="rect">
            <a:avLst/>
          </a:prstGeom>
          <a:noFill/>
          <a:ln/>
        </p:spPr>
        <p:txBody>
          <a:bodyPr wrap="square" rtlCol="0" anchor="ctr"/>
          <a:lstStyle/>
          <a:p>
            <a:pPr algn="ctr" indent="0" marL="0">
              <a:lnSpc>
                <a:spcPct val="120000"/>
              </a:lnSpc>
              <a:buNone/>
            </a:pPr>
            <a:r>
              <a:rPr lang="en-US" sz="1200" dirty="0">
                <a:solidFill>
                  <a:srgbClr val="C7CAE4"/>
                </a:solidFill>
                <a:latin typeface="Calibri" pitchFamily="34" charset="0"/>
                <a:ea typeface="Calibri" pitchFamily="34" charset="-122"/>
                <a:cs typeface="Calibri" pitchFamily="34" charset="-120"/>
              </a:rPr>
              <a:t>Phishing via SMS text — fake delivery notices, bank alerts, or prize claims.</a:t>
            </a:r>
            <a:endParaRPr lang="en-US" sz="1200" dirty="0"/>
          </a:p>
        </p:txBody>
      </p:sp>
      <p:sp>
        <p:nvSpPr>
          <p:cNvPr id="18" name="Shape 13"/>
          <p:cNvSpPr/>
          <p:nvPr/>
        </p:nvSpPr>
        <p:spPr>
          <a:xfrm>
            <a:off x="9326880" y="1554480"/>
            <a:ext cx="2697480" cy="4480560"/>
          </a:xfrm>
          <a:prstGeom prst="rect">
            <a:avLst/>
          </a:prstGeom>
          <a:solidFill>
            <a:srgbClr val="F2F3F7"/>
          </a:solidFill>
          <a:ln/>
        </p:spPr>
      </p:sp>
      <p:sp>
        <p:nvSpPr>
          <p:cNvPr id="19" name="Shape 14"/>
          <p:cNvSpPr/>
          <p:nvPr/>
        </p:nvSpPr>
        <p:spPr>
          <a:xfrm>
            <a:off x="10218420" y="2011680"/>
            <a:ext cx="914400" cy="914400"/>
          </a:xfrm>
          <a:prstGeom prst="ellipse">
            <a:avLst/>
          </a:prstGeom>
          <a:solidFill>
            <a:srgbClr val="1B1F3B"/>
          </a:solidFill>
          <a:ln/>
        </p:spPr>
      </p:sp>
      <p:pic>
        <p:nvPicPr>
          <p:cNvPr id="20" name="Image 3" descr="icon_vishing.png">    </p:cNvPr>
          <p:cNvPicPr>
            <a:picLocks noChangeAspect="1"/>
          </p:cNvPicPr>
          <p:nvPr/>
        </p:nvPicPr>
        <p:blipFill>
          <a:blip r:embed="rId4"/>
          <a:stretch>
            <a:fillRect/>
          </a:stretch>
        </p:blipFill>
        <p:spPr>
          <a:xfrm>
            <a:off x="10383012" y="2176272"/>
            <a:ext cx="585216" cy="585216"/>
          </a:xfrm>
          <a:prstGeom prst="rect">
            <a:avLst/>
          </a:prstGeom>
        </p:spPr>
      </p:pic>
      <p:sp>
        <p:nvSpPr>
          <p:cNvPr id="21" name="Text 15"/>
          <p:cNvSpPr/>
          <p:nvPr/>
        </p:nvSpPr>
        <p:spPr>
          <a:xfrm>
            <a:off x="9464040" y="3246120"/>
            <a:ext cx="2423160" cy="640080"/>
          </a:xfrm>
          <a:prstGeom prst="rect">
            <a:avLst/>
          </a:prstGeom>
          <a:noFill/>
          <a:ln/>
        </p:spPr>
        <p:txBody>
          <a:bodyPr wrap="square" rtlCol="0" anchor="ctr"/>
          <a:lstStyle/>
          <a:p>
            <a:pPr algn="ctr" indent="0" marL="0">
              <a:buNone/>
            </a:pPr>
            <a:r>
              <a:rPr lang="en-US" sz="1550" b="1" dirty="0">
                <a:solidFill>
                  <a:srgbClr val="1B1F3B"/>
                </a:solidFill>
                <a:latin typeface="Georgia" pitchFamily="34" charset="0"/>
                <a:ea typeface="Georgia" pitchFamily="34" charset="-122"/>
                <a:cs typeface="Georgia" pitchFamily="34" charset="-120"/>
              </a:rPr>
              <a:t>Vishing</a:t>
            </a:r>
            <a:endParaRPr lang="en-US" sz="1550" dirty="0"/>
          </a:p>
        </p:txBody>
      </p:sp>
      <p:sp>
        <p:nvSpPr>
          <p:cNvPr id="22" name="Text 16"/>
          <p:cNvSpPr/>
          <p:nvPr/>
        </p:nvSpPr>
        <p:spPr>
          <a:xfrm>
            <a:off x="9509760" y="3886200"/>
            <a:ext cx="2331720" cy="1920240"/>
          </a:xfrm>
          <a:prstGeom prst="rect">
            <a:avLst/>
          </a:prstGeom>
          <a:noFill/>
          <a:ln/>
        </p:spPr>
        <p:txBody>
          <a:bodyPr wrap="square" rtlCol="0" anchor="ctr"/>
          <a:lstStyle/>
          <a:p>
            <a:pPr algn="ctr" indent="0" marL="0">
              <a:lnSpc>
                <a:spcPct val="120000"/>
              </a:lnSpc>
              <a:buNone/>
            </a:pPr>
            <a:r>
              <a:rPr lang="en-US" sz="1200" dirty="0">
                <a:solidFill>
                  <a:srgbClr val="4A5568"/>
                </a:solidFill>
                <a:latin typeface="Calibri" pitchFamily="34" charset="0"/>
                <a:ea typeface="Calibri" pitchFamily="34" charset="-122"/>
                <a:cs typeface="Calibri" pitchFamily="34" charset="-120"/>
              </a:rPr>
              <a:t>Phone calls impersonating support desks, banks, or government agencies.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822960"/>
          </a:xfrm>
          <a:prstGeom prst="rect">
            <a:avLst/>
          </a:prstGeom>
          <a:noFill/>
          <a:ln/>
        </p:spPr>
        <p:txBody>
          <a:bodyPr wrap="square" rtlCol="0" anchor="ctr"/>
          <a:lstStyle/>
          <a:p>
            <a:pPr algn="l" indent="0" marL="0">
              <a:buNone/>
            </a:pPr>
            <a:r>
              <a:rPr lang="en-US" sz="3000" b="1" dirty="0">
                <a:solidFill>
                  <a:srgbClr val="1B1F3B"/>
                </a:solidFill>
                <a:latin typeface="Georgia" pitchFamily="34" charset="0"/>
                <a:ea typeface="Georgia" pitchFamily="34" charset="-122"/>
                <a:cs typeface="Georgia" pitchFamily="34" charset="-120"/>
              </a:rPr>
              <a:t>Anatomy of a Phishing Email</a:t>
            </a:r>
            <a:endParaRPr lang="en-US" sz="3000" dirty="0"/>
          </a:p>
        </p:txBody>
      </p:sp>
      <p:sp>
        <p:nvSpPr>
          <p:cNvPr id="3" name="Shape 1"/>
          <p:cNvSpPr/>
          <p:nvPr/>
        </p:nvSpPr>
        <p:spPr>
          <a:xfrm>
            <a:off x="548640" y="1463040"/>
            <a:ext cx="6766560" cy="4846320"/>
          </a:xfrm>
          <a:prstGeom prst="rect">
            <a:avLst/>
          </a:prstGeom>
          <a:solidFill>
            <a:srgbClr val="F2F3F7"/>
          </a:solidFill>
          <a:ln w="12700">
            <a:solidFill>
              <a:srgbClr val="D6D9E6"/>
            </a:solidFill>
            <a:prstDash val="solid"/>
          </a:ln>
        </p:spPr>
      </p:sp>
      <p:sp>
        <p:nvSpPr>
          <p:cNvPr id="4" name="Shape 2"/>
          <p:cNvSpPr/>
          <p:nvPr/>
        </p:nvSpPr>
        <p:spPr>
          <a:xfrm>
            <a:off x="548640" y="1463040"/>
            <a:ext cx="6766560" cy="457200"/>
          </a:xfrm>
          <a:prstGeom prst="rect">
            <a:avLst/>
          </a:prstGeom>
          <a:solidFill>
            <a:srgbClr val="1B1F3B"/>
          </a:solidFill>
          <a:ln/>
        </p:spPr>
      </p:sp>
      <p:sp>
        <p:nvSpPr>
          <p:cNvPr id="5" name="Text 3"/>
          <p:cNvSpPr/>
          <p:nvPr/>
        </p:nvSpPr>
        <p:spPr>
          <a:xfrm>
            <a:off x="731520" y="1536192"/>
            <a:ext cx="2743200" cy="310896"/>
          </a:xfrm>
          <a:prstGeom prst="rect">
            <a:avLst/>
          </a:prstGeom>
          <a:noFill/>
          <a:ln/>
        </p:spPr>
        <p:txBody>
          <a:bodyPr wrap="square" rtlCol="0" anchor="ctr"/>
          <a:lstStyle/>
          <a:p>
            <a:pPr indent="0" marL="0">
              <a:buNone/>
            </a:pPr>
            <a:r>
              <a:rPr lang="en-US" sz="1200" b="1" dirty="0">
                <a:solidFill>
                  <a:srgbClr val="F4F1EA"/>
                </a:solidFill>
              </a:rPr>
              <a:t>New Email</a:t>
            </a:r>
            <a:endParaRPr lang="en-US" sz="1200" dirty="0"/>
          </a:p>
        </p:txBody>
      </p:sp>
      <p:sp>
        <p:nvSpPr>
          <p:cNvPr id="6" name="Text 4"/>
          <p:cNvSpPr/>
          <p:nvPr/>
        </p:nvSpPr>
        <p:spPr>
          <a:xfrm>
            <a:off x="777240" y="2103120"/>
            <a:ext cx="6309360" cy="365760"/>
          </a:xfrm>
          <a:prstGeom prst="rect">
            <a:avLst/>
          </a:prstGeom>
          <a:noFill/>
          <a:ln/>
        </p:spPr>
        <p:txBody>
          <a:bodyPr wrap="square" rtlCol="0" anchor="ctr"/>
          <a:lstStyle/>
          <a:p>
            <a:pPr indent="0" marL="0">
              <a:buNone/>
            </a:pPr>
            <a:r>
              <a:rPr lang="en-US" sz="1250" b="1" dirty="0">
                <a:solidFill>
                  <a:srgbClr val="4A5568"/>
                </a:solidFill>
                <a:latin typeface="Consolas" pitchFamily="34" charset="0"/>
                <a:ea typeface="Consolas" pitchFamily="34" charset="-122"/>
                <a:cs typeface="Consolas" pitchFamily="34" charset="-120"/>
              </a:rPr>
              <a:t>From: </a:t>
            </a:r>
            <a:pPr indent="0" marL="0">
              <a:buNone/>
            </a:pPr>
            <a:r>
              <a:rPr lang="en-US" sz="1250" dirty="0">
                <a:solidFill>
                  <a:srgbClr val="1B1F3B"/>
                </a:solidFill>
                <a:latin typeface="Consolas" pitchFamily="34" charset="0"/>
                <a:ea typeface="Consolas" pitchFamily="34" charset="-122"/>
                <a:cs typeface="Consolas" pitchFamily="34" charset="-120"/>
              </a:rPr>
              <a:t>IT-Support@secure-accounts-verify.com</a:t>
            </a:r>
            <a:endParaRPr lang="en-US" sz="1250" dirty="0"/>
          </a:p>
        </p:txBody>
      </p:sp>
      <p:sp>
        <p:nvSpPr>
          <p:cNvPr id="7" name="Text 5"/>
          <p:cNvSpPr/>
          <p:nvPr/>
        </p:nvSpPr>
        <p:spPr>
          <a:xfrm>
            <a:off x="777240" y="2514600"/>
            <a:ext cx="6309360" cy="365760"/>
          </a:xfrm>
          <a:prstGeom prst="rect">
            <a:avLst/>
          </a:prstGeom>
          <a:noFill/>
          <a:ln/>
        </p:spPr>
        <p:txBody>
          <a:bodyPr wrap="square" rtlCol="0" anchor="ctr"/>
          <a:lstStyle/>
          <a:p>
            <a:pPr indent="0" marL="0">
              <a:buNone/>
            </a:pPr>
            <a:r>
              <a:rPr lang="en-US" sz="1250" b="1" dirty="0">
                <a:solidFill>
                  <a:srgbClr val="4A5568"/>
                </a:solidFill>
                <a:latin typeface="Consolas" pitchFamily="34" charset="0"/>
                <a:ea typeface="Consolas" pitchFamily="34" charset="-122"/>
                <a:cs typeface="Consolas" pitchFamily="34" charset="-120"/>
              </a:rPr>
              <a:t>Subject: </a:t>
            </a:r>
            <a:pPr indent="0" marL="0">
              <a:buNone/>
            </a:pPr>
            <a:r>
              <a:rPr lang="en-US" sz="1250" dirty="0">
                <a:solidFill>
                  <a:srgbClr val="1B1F3B"/>
                </a:solidFill>
                <a:latin typeface="Consolas" pitchFamily="34" charset="0"/>
                <a:ea typeface="Consolas" pitchFamily="34" charset="-122"/>
                <a:cs typeface="Consolas" pitchFamily="34" charset="-120"/>
              </a:rPr>
              <a:t>URGENT: Your account will be suspended in 24 hours</a:t>
            </a:r>
            <a:endParaRPr lang="en-US" sz="1250" dirty="0"/>
          </a:p>
        </p:txBody>
      </p:sp>
      <p:sp>
        <p:nvSpPr>
          <p:cNvPr id="8" name="Text 6"/>
          <p:cNvSpPr/>
          <p:nvPr/>
        </p:nvSpPr>
        <p:spPr>
          <a:xfrm>
            <a:off x="777240" y="2926080"/>
            <a:ext cx="6309360" cy="365760"/>
          </a:xfrm>
          <a:prstGeom prst="rect">
            <a:avLst/>
          </a:prstGeom>
          <a:noFill/>
          <a:ln/>
        </p:spPr>
        <p:txBody>
          <a:bodyPr wrap="square" rtlCol="0" anchor="ctr"/>
          <a:lstStyle/>
          <a:p>
            <a:pPr indent="0" marL="0">
              <a:buNone/>
            </a:pPr>
            <a:r>
              <a:rPr lang="en-US" sz="1250" b="1" dirty="0">
                <a:solidFill>
                  <a:srgbClr val="4A5568"/>
                </a:solidFill>
                <a:latin typeface="Consolas" pitchFamily="34" charset="0"/>
                <a:ea typeface="Consolas" pitchFamily="34" charset="-122"/>
                <a:cs typeface="Consolas" pitchFamily="34" charset="-120"/>
              </a:rPr>
              <a:t>To: </a:t>
            </a:r>
            <a:pPr indent="0" marL="0">
              <a:buNone/>
            </a:pPr>
            <a:r>
              <a:rPr lang="en-US" sz="1250" dirty="0">
                <a:solidFill>
                  <a:srgbClr val="1B1F3B"/>
                </a:solidFill>
                <a:latin typeface="Consolas" pitchFamily="34" charset="0"/>
                <a:ea typeface="Consolas" pitchFamily="34" charset="-122"/>
                <a:cs typeface="Consolas" pitchFamily="34" charset="-120"/>
              </a:rPr>
              <a:t>you@yourcompany.com</a:t>
            </a:r>
            <a:endParaRPr lang="en-US" sz="1250" dirty="0"/>
          </a:p>
        </p:txBody>
      </p:sp>
      <p:sp>
        <p:nvSpPr>
          <p:cNvPr id="9" name="Text 7"/>
          <p:cNvSpPr/>
          <p:nvPr/>
        </p:nvSpPr>
        <p:spPr>
          <a:xfrm>
            <a:off x="777240" y="3474720"/>
            <a:ext cx="6309360" cy="2651760"/>
          </a:xfrm>
          <a:prstGeom prst="rect">
            <a:avLst/>
          </a:prstGeom>
          <a:noFill/>
          <a:ln/>
        </p:spPr>
        <p:txBody>
          <a:bodyPr wrap="square" rtlCol="0" anchor="ctr"/>
          <a:lstStyle/>
          <a:p>
            <a:pPr indent="0" marL="0">
              <a:lnSpc>
                <a:spcPct val="125000"/>
              </a:lnSpc>
              <a:buNone/>
            </a:pPr>
            <a:r>
              <a:rPr lang="en-US" sz="1200" dirty="0">
                <a:solidFill>
                  <a:srgbClr val="333333"/>
                </a:solidFill>
                <a:latin typeface="Calibri" pitchFamily="34" charset="0"/>
                <a:ea typeface="Calibri" pitchFamily="34" charset="-122"/>
                <a:cs typeface="Calibri" pitchFamily="34" charset="-120"/>
              </a:rPr>
              <a:t>Dear Customer,</a:t>
            </a:r>
            <a:endParaRPr lang="en-US" sz="1200" dirty="0"/>
          </a:p>
          <a:p>
            <a:pPr indent="0" marL="0">
              <a:lnSpc>
                <a:spcPct val="125000"/>
              </a:lnSpc>
              <a:buNone/>
            </a:pPr>
            <a:endParaRPr lang="en-US" sz="1200" dirty="0"/>
          </a:p>
          <a:p>
            <a:pPr indent="0" marL="0">
              <a:lnSpc>
                <a:spcPct val="125000"/>
              </a:lnSpc>
              <a:buNone/>
            </a:pPr>
            <a:r>
              <a:rPr lang="en-US" sz="1200" dirty="0">
                <a:solidFill>
                  <a:srgbClr val="333333"/>
                </a:solidFill>
                <a:latin typeface="Calibri" pitchFamily="34" charset="0"/>
                <a:ea typeface="Calibri" pitchFamily="34" charset="-122"/>
                <a:cs typeface="Calibri" pitchFamily="34" charset="-120"/>
              </a:rPr>
              <a:t>We detected unusual activity on your account. Click below immediately to verify your identity or your account will be permanently locked.</a:t>
            </a:r>
            <a:endParaRPr lang="en-US" sz="1200" dirty="0"/>
          </a:p>
          <a:p>
            <a:pPr indent="0" marL="0">
              <a:lnSpc>
                <a:spcPct val="125000"/>
              </a:lnSpc>
              <a:buNone/>
            </a:pPr>
            <a:endParaRPr lang="en-US" sz="1200" dirty="0"/>
          </a:p>
          <a:p>
            <a:pPr indent="0" marL="0">
              <a:lnSpc>
                <a:spcPct val="125000"/>
              </a:lnSpc>
              <a:buNone/>
            </a:pPr>
            <a:r>
              <a:rPr lang="en-US" sz="1200" dirty="0">
                <a:solidFill>
                  <a:srgbClr val="333333"/>
                </a:solidFill>
                <a:latin typeface="Calibri" pitchFamily="34" charset="0"/>
                <a:ea typeface="Calibri" pitchFamily="34" charset="-122"/>
                <a:cs typeface="Calibri" pitchFamily="34" charset="-120"/>
              </a:rPr>
              <a:t>[ Verify My Account Now ]</a:t>
            </a:r>
            <a:endParaRPr lang="en-US" sz="1200" dirty="0"/>
          </a:p>
          <a:p>
            <a:pPr indent="0" marL="0">
              <a:lnSpc>
                <a:spcPct val="125000"/>
              </a:lnSpc>
              <a:buNone/>
            </a:pPr>
            <a:endParaRPr lang="en-US" sz="1200" dirty="0"/>
          </a:p>
          <a:p>
            <a:pPr indent="0" marL="0">
              <a:lnSpc>
                <a:spcPct val="125000"/>
              </a:lnSpc>
              <a:buNone/>
            </a:pPr>
            <a:r>
              <a:rPr lang="en-US" sz="1200" dirty="0">
                <a:solidFill>
                  <a:srgbClr val="333333"/>
                </a:solidFill>
                <a:latin typeface="Calibri" pitchFamily="34" charset="0"/>
                <a:ea typeface="Calibri" pitchFamily="34" charset="-122"/>
                <a:cs typeface="Calibri" pitchFamily="34" charset="-120"/>
              </a:rPr>
              <a:t>Thank you,</a:t>
            </a:r>
            <a:endParaRPr lang="en-US" sz="1200" dirty="0"/>
          </a:p>
          <a:p>
            <a:pPr indent="0" marL="0">
              <a:lnSpc>
                <a:spcPct val="125000"/>
              </a:lnSpc>
              <a:buNone/>
            </a:pPr>
            <a:r>
              <a:rPr lang="en-US" sz="1200" dirty="0">
                <a:solidFill>
                  <a:srgbClr val="333333"/>
                </a:solidFill>
                <a:latin typeface="Calibri" pitchFamily="34" charset="0"/>
                <a:ea typeface="Calibri" pitchFamily="34" charset="-122"/>
                <a:cs typeface="Calibri" pitchFamily="34" charset="-120"/>
              </a:rPr>
              <a:t>The Security Team</a:t>
            </a:r>
            <a:endParaRPr lang="en-US" sz="1200" dirty="0"/>
          </a:p>
        </p:txBody>
      </p:sp>
      <p:sp>
        <p:nvSpPr>
          <p:cNvPr id="10" name="Shape 8"/>
          <p:cNvSpPr/>
          <p:nvPr/>
        </p:nvSpPr>
        <p:spPr>
          <a:xfrm>
            <a:off x="7543800" y="2148840"/>
            <a:ext cx="146304" cy="146304"/>
          </a:xfrm>
          <a:prstGeom prst="ellipse">
            <a:avLst/>
          </a:prstGeom>
          <a:solidFill>
            <a:srgbClr val="E4572E"/>
          </a:solidFill>
          <a:ln/>
        </p:spPr>
      </p:sp>
      <p:sp>
        <p:nvSpPr>
          <p:cNvPr id="11" name="Text 9"/>
          <p:cNvSpPr/>
          <p:nvPr/>
        </p:nvSpPr>
        <p:spPr>
          <a:xfrm>
            <a:off x="7772400" y="2039112"/>
            <a:ext cx="3840480" cy="548640"/>
          </a:xfrm>
          <a:prstGeom prst="rect">
            <a:avLst/>
          </a:prstGeom>
          <a:noFill/>
          <a:ln/>
        </p:spPr>
        <p:txBody>
          <a:bodyPr wrap="square" rtlCol="0" anchor="ctr"/>
          <a:lstStyle/>
          <a:p>
            <a:pPr indent="0" marL="0">
              <a:lnSpc>
                <a:spcPct val="110000"/>
              </a:lnSpc>
              <a:buNone/>
            </a:pPr>
            <a:r>
              <a:rPr lang="en-US" sz="1200" dirty="0">
                <a:solidFill>
                  <a:srgbClr val="1B1F3B"/>
                </a:solidFill>
                <a:latin typeface="Calibri" pitchFamily="34" charset="0"/>
                <a:ea typeface="Calibri" pitchFamily="34" charset="-122"/>
                <a:cs typeface="Calibri" pitchFamily="34" charset="-120"/>
              </a:rPr>
              <a:t>Sender domain looks official but isn't your company's real domain</a:t>
            </a:r>
            <a:endParaRPr lang="en-US" sz="1200" dirty="0"/>
          </a:p>
        </p:txBody>
      </p:sp>
      <p:sp>
        <p:nvSpPr>
          <p:cNvPr id="12" name="Shape 10"/>
          <p:cNvSpPr/>
          <p:nvPr/>
        </p:nvSpPr>
        <p:spPr>
          <a:xfrm>
            <a:off x="7543800" y="2560320"/>
            <a:ext cx="146304" cy="146304"/>
          </a:xfrm>
          <a:prstGeom prst="ellipse">
            <a:avLst/>
          </a:prstGeom>
          <a:solidFill>
            <a:srgbClr val="E4572E"/>
          </a:solidFill>
          <a:ln/>
        </p:spPr>
      </p:sp>
      <p:sp>
        <p:nvSpPr>
          <p:cNvPr id="13" name="Text 11"/>
          <p:cNvSpPr/>
          <p:nvPr/>
        </p:nvSpPr>
        <p:spPr>
          <a:xfrm>
            <a:off x="7772400" y="2450592"/>
            <a:ext cx="3840480" cy="548640"/>
          </a:xfrm>
          <a:prstGeom prst="rect">
            <a:avLst/>
          </a:prstGeom>
          <a:noFill/>
          <a:ln/>
        </p:spPr>
        <p:txBody>
          <a:bodyPr wrap="square" rtlCol="0" anchor="ctr"/>
          <a:lstStyle/>
          <a:p>
            <a:pPr indent="0" marL="0">
              <a:lnSpc>
                <a:spcPct val="110000"/>
              </a:lnSpc>
              <a:buNone/>
            </a:pPr>
            <a:r>
              <a:rPr lang="en-US" sz="1200" dirty="0">
                <a:solidFill>
                  <a:srgbClr val="1B1F3B"/>
                </a:solidFill>
                <a:latin typeface="Calibri" pitchFamily="34" charset="0"/>
                <a:ea typeface="Calibri" pitchFamily="34" charset="-122"/>
                <a:cs typeface="Calibri" pitchFamily="34" charset="-120"/>
              </a:rPr>
              <a:t>Manufactured urgency: a ticking-clock deadline</a:t>
            </a:r>
            <a:endParaRPr lang="en-US" sz="1200" dirty="0"/>
          </a:p>
        </p:txBody>
      </p:sp>
      <p:sp>
        <p:nvSpPr>
          <p:cNvPr id="14" name="Shape 12"/>
          <p:cNvSpPr/>
          <p:nvPr/>
        </p:nvSpPr>
        <p:spPr>
          <a:xfrm>
            <a:off x="7543800" y="4754880"/>
            <a:ext cx="146304" cy="146304"/>
          </a:xfrm>
          <a:prstGeom prst="ellipse">
            <a:avLst/>
          </a:prstGeom>
          <a:solidFill>
            <a:srgbClr val="E4572E"/>
          </a:solidFill>
          <a:ln/>
        </p:spPr>
      </p:sp>
      <p:sp>
        <p:nvSpPr>
          <p:cNvPr id="15" name="Text 13"/>
          <p:cNvSpPr/>
          <p:nvPr/>
        </p:nvSpPr>
        <p:spPr>
          <a:xfrm>
            <a:off x="7772400" y="4645152"/>
            <a:ext cx="3840480" cy="548640"/>
          </a:xfrm>
          <a:prstGeom prst="rect">
            <a:avLst/>
          </a:prstGeom>
          <a:noFill/>
          <a:ln/>
        </p:spPr>
        <p:txBody>
          <a:bodyPr wrap="square" rtlCol="0" anchor="ctr"/>
          <a:lstStyle/>
          <a:p>
            <a:pPr indent="0" marL="0">
              <a:lnSpc>
                <a:spcPct val="110000"/>
              </a:lnSpc>
              <a:buNone/>
            </a:pPr>
            <a:r>
              <a:rPr lang="en-US" sz="1200" dirty="0">
                <a:solidFill>
                  <a:srgbClr val="1B1F3B"/>
                </a:solidFill>
                <a:latin typeface="Calibri" pitchFamily="34" charset="0"/>
                <a:ea typeface="Calibri" pitchFamily="34" charset="-122"/>
                <a:cs typeface="Calibri" pitchFamily="34" charset="-120"/>
              </a:rPr>
              <a:t>Generic greeting — not your actual name</a:t>
            </a:r>
            <a:endParaRPr lang="en-US" sz="1200" dirty="0"/>
          </a:p>
        </p:txBody>
      </p:sp>
      <p:sp>
        <p:nvSpPr>
          <p:cNvPr id="16" name="Shape 14"/>
          <p:cNvSpPr/>
          <p:nvPr/>
        </p:nvSpPr>
        <p:spPr>
          <a:xfrm>
            <a:off x="7543800" y="5623560"/>
            <a:ext cx="146304" cy="146304"/>
          </a:xfrm>
          <a:prstGeom prst="ellipse">
            <a:avLst/>
          </a:prstGeom>
          <a:solidFill>
            <a:srgbClr val="E4572E"/>
          </a:solidFill>
          <a:ln/>
        </p:spPr>
      </p:sp>
      <p:sp>
        <p:nvSpPr>
          <p:cNvPr id="17" name="Text 15"/>
          <p:cNvSpPr/>
          <p:nvPr/>
        </p:nvSpPr>
        <p:spPr>
          <a:xfrm>
            <a:off x="7772400" y="5513832"/>
            <a:ext cx="3840480" cy="548640"/>
          </a:xfrm>
          <a:prstGeom prst="rect">
            <a:avLst/>
          </a:prstGeom>
          <a:noFill/>
          <a:ln/>
        </p:spPr>
        <p:txBody>
          <a:bodyPr wrap="square" rtlCol="0" anchor="ctr"/>
          <a:lstStyle/>
          <a:p>
            <a:pPr indent="0" marL="0">
              <a:lnSpc>
                <a:spcPct val="110000"/>
              </a:lnSpc>
              <a:buNone/>
            </a:pPr>
            <a:r>
              <a:rPr lang="en-US" sz="1200" dirty="0">
                <a:solidFill>
                  <a:srgbClr val="1B1F3B"/>
                </a:solidFill>
                <a:latin typeface="Calibri" pitchFamily="34" charset="0"/>
                <a:ea typeface="Calibri" pitchFamily="34" charset="-122"/>
                <a:cs typeface="Calibri" pitchFamily="34" charset="-120"/>
              </a:rPr>
              <a:t>Suspicious link disguised as a button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1F3B"/>
        </a:solidFill>
      </p:bgPr>
    </p:bg>
    <p:spTree>
      <p:nvGrpSpPr>
        <p:cNvPr id="1" name=""/>
        <p:cNvGrpSpPr/>
        <p:nvPr/>
      </p:nvGrpSpPr>
      <p:grpSpPr>
        <a:xfrm>
          <a:off x="0" y="0"/>
          <a:ext cx="0" cy="0"/>
          <a:chOff x="0" y="0"/>
          <a:chExt cx="0" cy="0"/>
        </a:xfrm>
      </p:grpSpPr>
      <p:sp>
        <p:nvSpPr>
          <p:cNvPr id="2" name="Text 0"/>
          <p:cNvSpPr/>
          <p:nvPr/>
        </p:nvSpPr>
        <p:spPr>
          <a:xfrm>
            <a:off x="548640" y="411480"/>
            <a:ext cx="11064240" cy="822960"/>
          </a:xfrm>
          <a:prstGeom prst="rect">
            <a:avLst/>
          </a:prstGeom>
          <a:noFill/>
          <a:ln/>
        </p:spPr>
        <p:txBody>
          <a:bodyPr wrap="square" rtlCol="0" anchor="ctr"/>
          <a:lstStyle/>
          <a:p>
            <a:pPr algn="l" indent="0" marL="0">
              <a:buNone/>
            </a:pPr>
            <a:r>
              <a:rPr lang="en-US" sz="3000" b="1" dirty="0">
                <a:solidFill>
                  <a:srgbClr val="F4F1EA"/>
                </a:solidFill>
                <a:latin typeface="Georgia" pitchFamily="34" charset="0"/>
                <a:ea typeface="Georgia" pitchFamily="34" charset="-122"/>
                <a:cs typeface="Georgia" pitchFamily="34" charset="-120"/>
              </a:rPr>
              <a:t>Red Flags in Suspicious Emails</a:t>
            </a:r>
            <a:endParaRPr lang="en-US" sz="3000" dirty="0"/>
          </a:p>
        </p:txBody>
      </p:sp>
      <p:pic>
        <p:nvPicPr>
          <p:cNvPr id="3" name="Image 0" descr="icon_cross.png">    </p:cNvPr>
          <p:cNvPicPr>
            <a:picLocks noChangeAspect="1"/>
          </p:cNvPicPr>
          <p:nvPr/>
        </p:nvPicPr>
        <p:blipFill>
          <a:blip r:embed="rId1"/>
          <a:stretch>
            <a:fillRect/>
          </a:stretch>
        </p:blipFill>
        <p:spPr>
          <a:xfrm>
            <a:off x="640080" y="1554480"/>
            <a:ext cx="320040" cy="320040"/>
          </a:xfrm>
          <a:prstGeom prst="rect">
            <a:avLst/>
          </a:prstGeom>
        </p:spPr>
      </p:pic>
      <p:sp>
        <p:nvSpPr>
          <p:cNvPr id="4" name="Text 1"/>
          <p:cNvSpPr/>
          <p:nvPr/>
        </p:nvSpPr>
        <p:spPr>
          <a:xfrm>
            <a:off x="1143000" y="1508760"/>
            <a:ext cx="9875520" cy="457200"/>
          </a:xfrm>
          <a:prstGeom prst="rect">
            <a:avLst/>
          </a:prstGeom>
          <a:noFill/>
          <a:ln/>
        </p:spPr>
        <p:txBody>
          <a:bodyPr wrap="square" rtlCol="0" anchor="ctr"/>
          <a:lstStyle/>
          <a:p>
            <a:pPr indent="0" marL="0">
              <a:buNone/>
            </a:pPr>
            <a:r>
              <a:rPr lang="en-US" sz="1500" dirty="0">
                <a:solidFill>
                  <a:srgbClr val="F4F1EA"/>
                </a:solidFill>
                <a:latin typeface="Calibri" pitchFamily="34" charset="0"/>
                <a:ea typeface="Calibri" pitchFamily="34" charset="-122"/>
                <a:cs typeface="Calibri" pitchFamily="34" charset="-120"/>
              </a:rPr>
              <a:t>Sender address doesn't match the organization it claims to be from</a:t>
            </a:r>
            <a:endParaRPr lang="en-US" sz="1500" dirty="0"/>
          </a:p>
        </p:txBody>
      </p:sp>
      <p:pic>
        <p:nvPicPr>
          <p:cNvPr id="5" name="Image 1" descr="icon_cross.png">    </p:cNvPr>
          <p:cNvPicPr>
            <a:picLocks noChangeAspect="1"/>
          </p:cNvPicPr>
          <p:nvPr/>
        </p:nvPicPr>
        <p:blipFill>
          <a:blip r:embed="rId2"/>
          <a:stretch>
            <a:fillRect/>
          </a:stretch>
        </p:blipFill>
        <p:spPr>
          <a:xfrm>
            <a:off x="640080" y="2176272"/>
            <a:ext cx="320040" cy="320040"/>
          </a:xfrm>
          <a:prstGeom prst="rect">
            <a:avLst/>
          </a:prstGeom>
        </p:spPr>
      </p:pic>
      <p:sp>
        <p:nvSpPr>
          <p:cNvPr id="6" name="Text 2"/>
          <p:cNvSpPr/>
          <p:nvPr/>
        </p:nvSpPr>
        <p:spPr>
          <a:xfrm>
            <a:off x="1143000" y="2130552"/>
            <a:ext cx="9875520" cy="457200"/>
          </a:xfrm>
          <a:prstGeom prst="rect">
            <a:avLst/>
          </a:prstGeom>
          <a:noFill/>
          <a:ln/>
        </p:spPr>
        <p:txBody>
          <a:bodyPr wrap="square" rtlCol="0" anchor="ctr"/>
          <a:lstStyle/>
          <a:p>
            <a:pPr indent="0" marL="0">
              <a:buNone/>
            </a:pPr>
            <a:r>
              <a:rPr lang="en-US" sz="1500" dirty="0">
                <a:solidFill>
                  <a:srgbClr val="F4F1EA"/>
                </a:solidFill>
                <a:latin typeface="Calibri" pitchFamily="34" charset="0"/>
                <a:ea typeface="Calibri" pitchFamily="34" charset="-122"/>
                <a:cs typeface="Calibri" pitchFamily="34" charset="-120"/>
              </a:rPr>
              <a:t>Urgent or threatening language demanding immediate action</a:t>
            </a:r>
            <a:endParaRPr lang="en-US" sz="1500" dirty="0"/>
          </a:p>
        </p:txBody>
      </p:sp>
      <p:pic>
        <p:nvPicPr>
          <p:cNvPr id="7" name="Image 2" descr="icon_cross.png">    </p:cNvPr>
          <p:cNvPicPr>
            <a:picLocks noChangeAspect="1"/>
          </p:cNvPicPr>
          <p:nvPr/>
        </p:nvPicPr>
        <p:blipFill>
          <a:blip r:embed="rId3"/>
          <a:stretch>
            <a:fillRect/>
          </a:stretch>
        </p:blipFill>
        <p:spPr>
          <a:xfrm>
            <a:off x="640080" y="2798064"/>
            <a:ext cx="320040" cy="320040"/>
          </a:xfrm>
          <a:prstGeom prst="rect">
            <a:avLst/>
          </a:prstGeom>
        </p:spPr>
      </p:pic>
      <p:sp>
        <p:nvSpPr>
          <p:cNvPr id="8" name="Text 3"/>
          <p:cNvSpPr/>
          <p:nvPr/>
        </p:nvSpPr>
        <p:spPr>
          <a:xfrm>
            <a:off x="1143000" y="2752344"/>
            <a:ext cx="9875520" cy="457200"/>
          </a:xfrm>
          <a:prstGeom prst="rect">
            <a:avLst/>
          </a:prstGeom>
          <a:noFill/>
          <a:ln/>
        </p:spPr>
        <p:txBody>
          <a:bodyPr wrap="square" rtlCol="0" anchor="ctr"/>
          <a:lstStyle/>
          <a:p>
            <a:pPr indent="0" marL="0">
              <a:buNone/>
            </a:pPr>
            <a:r>
              <a:rPr lang="en-US" sz="1500" dirty="0">
                <a:solidFill>
                  <a:srgbClr val="F4F1EA"/>
                </a:solidFill>
                <a:latin typeface="Calibri" pitchFamily="34" charset="0"/>
                <a:ea typeface="Calibri" pitchFamily="34" charset="-122"/>
                <a:cs typeface="Calibri" pitchFamily="34" charset="-120"/>
              </a:rPr>
              <a:t>Generic greetings like "Dear Customer" instead of your name</a:t>
            </a:r>
            <a:endParaRPr lang="en-US" sz="1500" dirty="0"/>
          </a:p>
        </p:txBody>
      </p:sp>
      <p:pic>
        <p:nvPicPr>
          <p:cNvPr id="9" name="Image 3" descr="icon_cross.png">    </p:cNvPr>
          <p:cNvPicPr>
            <a:picLocks noChangeAspect="1"/>
          </p:cNvPicPr>
          <p:nvPr/>
        </p:nvPicPr>
        <p:blipFill>
          <a:blip r:embed="rId4"/>
          <a:stretch>
            <a:fillRect/>
          </a:stretch>
        </p:blipFill>
        <p:spPr>
          <a:xfrm>
            <a:off x="640080" y="3419856"/>
            <a:ext cx="320040" cy="320040"/>
          </a:xfrm>
          <a:prstGeom prst="rect">
            <a:avLst/>
          </a:prstGeom>
        </p:spPr>
      </p:pic>
      <p:sp>
        <p:nvSpPr>
          <p:cNvPr id="10" name="Text 4"/>
          <p:cNvSpPr/>
          <p:nvPr/>
        </p:nvSpPr>
        <p:spPr>
          <a:xfrm>
            <a:off x="1143000" y="3374136"/>
            <a:ext cx="9875520" cy="457200"/>
          </a:xfrm>
          <a:prstGeom prst="rect">
            <a:avLst/>
          </a:prstGeom>
          <a:noFill/>
          <a:ln/>
        </p:spPr>
        <p:txBody>
          <a:bodyPr wrap="square" rtlCol="0" anchor="ctr"/>
          <a:lstStyle/>
          <a:p>
            <a:pPr indent="0" marL="0">
              <a:buNone/>
            </a:pPr>
            <a:r>
              <a:rPr lang="en-US" sz="1500" dirty="0">
                <a:solidFill>
                  <a:srgbClr val="F4F1EA"/>
                </a:solidFill>
                <a:latin typeface="Calibri" pitchFamily="34" charset="0"/>
                <a:ea typeface="Calibri" pitchFamily="34" charset="-122"/>
                <a:cs typeface="Calibri" pitchFamily="34" charset="-120"/>
              </a:rPr>
              <a:t>Spelling and grammar mistakes in a supposedly official message</a:t>
            </a:r>
            <a:endParaRPr lang="en-US" sz="1500" dirty="0"/>
          </a:p>
        </p:txBody>
      </p:sp>
      <p:pic>
        <p:nvPicPr>
          <p:cNvPr id="11" name="Image 4" descr="icon_cross.png">    </p:cNvPr>
          <p:cNvPicPr>
            <a:picLocks noChangeAspect="1"/>
          </p:cNvPicPr>
          <p:nvPr/>
        </p:nvPicPr>
        <p:blipFill>
          <a:blip r:embed="rId5"/>
          <a:stretch>
            <a:fillRect/>
          </a:stretch>
        </p:blipFill>
        <p:spPr>
          <a:xfrm>
            <a:off x="640080" y="4041648"/>
            <a:ext cx="320040" cy="320040"/>
          </a:xfrm>
          <a:prstGeom prst="rect">
            <a:avLst/>
          </a:prstGeom>
        </p:spPr>
      </p:pic>
      <p:sp>
        <p:nvSpPr>
          <p:cNvPr id="12" name="Text 5"/>
          <p:cNvSpPr/>
          <p:nvPr/>
        </p:nvSpPr>
        <p:spPr>
          <a:xfrm>
            <a:off x="1143000" y="3995928"/>
            <a:ext cx="9875520" cy="457200"/>
          </a:xfrm>
          <a:prstGeom prst="rect">
            <a:avLst/>
          </a:prstGeom>
          <a:noFill/>
          <a:ln/>
        </p:spPr>
        <p:txBody>
          <a:bodyPr wrap="square" rtlCol="0" anchor="ctr"/>
          <a:lstStyle/>
          <a:p>
            <a:pPr indent="0" marL="0">
              <a:buNone/>
            </a:pPr>
            <a:r>
              <a:rPr lang="en-US" sz="1500" dirty="0">
                <a:solidFill>
                  <a:srgbClr val="F4F1EA"/>
                </a:solidFill>
                <a:latin typeface="Calibri" pitchFamily="34" charset="0"/>
                <a:ea typeface="Calibri" pitchFamily="34" charset="-122"/>
                <a:cs typeface="Calibri" pitchFamily="34" charset="-120"/>
              </a:rPr>
              <a:t>Requests for passwords, PINs, or payment details via email</a:t>
            </a:r>
            <a:endParaRPr lang="en-US" sz="1500" dirty="0"/>
          </a:p>
        </p:txBody>
      </p:sp>
      <p:pic>
        <p:nvPicPr>
          <p:cNvPr id="13" name="Image 5" descr="icon_cross.png">    </p:cNvPr>
          <p:cNvPicPr>
            <a:picLocks noChangeAspect="1"/>
          </p:cNvPicPr>
          <p:nvPr/>
        </p:nvPicPr>
        <p:blipFill>
          <a:blip r:embed="rId6"/>
          <a:stretch>
            <a:fillRect/>
          </a:stretch>
        </p:blipFill>
        <p:spPr>
          <a:xfrm>
            <a:off x="640080" y="4663440"/>
            <a:ext cx="320040" cy="320040"/>
          </a:xfrm>
          <a:prstGeom prst="rect">
            <a:avLst/>
          </a:prstGeom>
        </p:spPr>
      </p:pic>
      <p:sp>
        <p:nvSpPr>
          <p:cNvPr id="14" name="Text 6"/>
          <p:cNvSpPr/>
          <p:nvPr/>
        </p:nvSpPr>
        <p:spPr>
          <a:xfrm>
            <a:off x="1143000" y="4617720"/>
            <a:ext cx="9875520" cy="457200"/>
          </a:xfrm>
          <a:prstGeom prst="rect">
            <a:avLst/>
          </a:prstGeom>
          <a:noFill/>
          <a:ln/>
        </p:spPr>
        <p:txBody>
          <a:bodyPr wrap="square" rtlCol="0" anchor="ctr"/>
          <a:lstStyle/>
          <a:p>
            <a:pPr indent="0" marL="0">
              <a:buNone/>
            </a:pPr>
            <a:r>
              <a:rPr lang="en-US" sz="1500" dirty="0">
                <a:solidFill>
                  <a:srgbClr val="F4F1EA"/>
                </a:solidFill>
                <a:latin typeface="Calibri" pitchFamily="34" charset="0"/>
                <a:ea typeface="Calibri" pitchFamily="34" charset="-122"/>
                <a:cs typeface="Calibri" pitchFamily="34" charset="-120"/>
              </a:rPr>
              <a:t>Links that don't match the text shown when you hover over them</a:t>
            </a:r>
            <a:endParaRPr lang="en-US" sz="1500" dirty="0"/>
          </a:p>
        </p:txBody>
      </p:sp>
      <p:pic>
        <p:nvPicPr>
          <p:cNvPr id="15" name="Image 6" descr="icon_cross.png">    </p:cNvPr>
          <p:cNvPicPr>
            <a:picLocks noChangeAspect="1"/>
          </p:cNvPicPr>
          <p:nvPr/>
        </p:nvPicPr>
        <p:blipFill>
          <a:blip r:embed="rId7"/>
          <a:stretch>
            <a:fillRect/>
          </a:stretch>
        </p:blipFill>
        <p:spPr>
          <a:xfrm>
            <a:off x="640080" y="5285232"/>
            <a:ext cx="320040" cy="320040"/>
          </a:xfrm>
          <a:prstGeom prst="rect">
            <a:avLst/>
          </a:prstGeom>
        </p:spPr>
      </p:pic>
      <p:sp>
        <p:nvSpPr>
          <p:cNvPr id="16" name="Text 7"/>
          <p:cNvSpPr/>
          <p:nvPr/>
        </p:nvSpPr>
        <p:spPr>
          <a:xfrm>
            <a:off x="1143000" y="5239512"/>
            <a:ext cx="9875520" cy="457200"/>
          </a:xfrm>
          <a:prstGeom prst="rect">
            <a:avLst/>
          </a:prstGeom>
          <a:noFill/>
          <a:ln/>
        </p:spPr>
        <p:txBody>
          <a:bodyPr wrap="square" rtlCol="0" anchor="ctr"/>
          <a:lstStyle/>
          <a:p>
            <a:pPr indent="0" marL="0">
              <a:buNone/>
            </a:pPr>
            <a:r>
              <a:rPr lang="en-US" sz="1500" dirty="0">
                <a:solidFill>
                  <a:srgbClr val="F4F1EA"/>
                </a:solidFill>
                <a:latin typeface="Calibri" pitchFamily="34" charset="0"/>
                <a:ea typeface="Calibri" pitchFamily="34" charset="-122"/>
                <a:cs typeface="Calibri" pitchFamily="34" charset="-120"/>
              </a:rPr>
              <a:t>Unexpected attachments, especially .zip, .exe, or macro-enabled files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822960"/>
          </a:xfrm>
          <a:prstGeom prst="rect">
            <a:avLst/>
          </a:prstGeom>
          <a:noFill/>
          <a:ln/>
        </p:spPr>
        <p:txBody>
          <a:bodyPr wrap="square" rtlCol="0" anchor="ctr"/>
          <a:lstStyle/>
          <a:p>
            <a:pPr algn="l" indent="0" marL="0">
              <a:buNone/>
            </a:pPr>
            <a:r>
              <a:rPr lang="en-US" sz="3000" b="1" dirty="0">
                <a:solidFill>
                  <a:srgbClr val="1B1F3B"/>
                </a:solidFill>
                <a:latin typeface="Georgia" pitchFamily="34" charset="0"/>
                <a:ea typeface="Georgia" pitchFamily="34" charset="-122"/>
                <a:cs typeface="Georgia" pitchFamily="34" charset="-120"/>
              </a:rPr>
              <a:t>Spotting a Fake Website</a:t>
            </a:r>
            <a:endParaRPr lang="en-US" sz="3000" dirty="0"/>
          </a:p>
        </p:txBody>
      </p:sp>
      <p:sp>
        <p:nvSpPr>
          <p:cNvPr id="3" name="Shape 1"/>
          <p:cNvSpPr/>
          <p:nvPr/>
        </p:nvSpPr>
        <p:spPr>
          <a:xfrm>
            <a:off x="548640" y="1463040"/>
            <a:ext cx="5486400" cy="4754880"/>
          </a:xfrm>
          <a:prstGeom prst="rect">
            <a:avLst/>
          </a:prstGeom>
          <a:solidFill>
            <a:srgbClr val="F2F3F7"/>
          </a:solidFill>
          <a:ln/>
        </p:spPr>
      </p:sp>
      <p:pic>
        <p:nvPicPr>
          <p:cNvPr id="4" name="Image 0" descr="icon_link.png">    </p:cNvPr>
          <p:cNvPicPr>
            <a:picLocks noChangeAspect="1"/>
          </p:cNvPicPr>
          <p:nvPr/>
        </p:nvPicPr>
        <p:blipFill>
          <a:blip r:embed="rId1"/>
          <a:stretch>
            <a:fillRect/>
          </a:stretch>
        </p:blipFill>
        <p:spPr>
          <a:xfrm>
            <a:off x="868680" y="1737360"/>
            <a:ext cx="548640" cy="548640"/>
          </a:xfrm>
          <a:prstGeom prst="rect">
            <a:avLst/>
          </a:prstGeom>
        </p:spPr>
      </p:pic>
      <p:sp>
        <p:nvSpPr>
          <p:cNvPr id="5" name="Shape 2"/>
          <p:cNvSpPr/>
          <p:nvPr/>
        </p:nvSpPr>
        <p:spPr>
          <a:xfrm>
            <a:off x="868680" y="2523744"/>
            <a:ext cx="109728" cy="109728"/>
          </a:xfrm>
          <a:prstGeom prst="ellipse">
            <a:avLst/>
          </a:prstGeom>
          <a:solidFill>
            <a:srgbClr val="E4572E"/>
          </a:solidFill>
          <a:ln/>
        </p:spPr>
      </p:sp>
      <p:sp>
        <p:nvSpPr>
          <p:cNvPr id="6" name="Text 3"/>
          <p:cNvSpPr/>
          <p:nvPr/>
        </p:nvSpPr>
        <p:spPr>
          <a:xfrm>
            <a:off x="1097280" y="2377440"/>
            <a:ext cx="4754880" cy="640080"/>
          </a:xfrm>
          <a:prstGeom prst="rect">
            <a:avLst/>
          </a:prstGeom>
          <a:noFill/>
          <a:ln/>
        </p:spPr>
        <p:txBody>
          <a:bodyPr wrap="square" rtlCol="0" anchor="ctr"/>
          <a:lstStyle/>
          <a:p>
            <a:pPr indent="0" marL="0">
              <a:lnSpc>
                <a:spcPct val="115000"/>
              </a:lnSpc>
              <a:buNone/>
            </a:pPr>
            <a:r>
              <a:rPr lang="en-US" sz="1350" dirty="0">
                <a:solidFill>
                  <a:srgbClr val="1B1F3B"/>
                </a:solidFill>
                <a:latin typeface="Calibri" pitchFamily="34" charset="0"/>
                <a:ea typeface="Calibri" pitchFamily="34" charset="-122"/>
                <a:cs typeface="Calibri" pitchFamily="34" charset="-120"/>
              </a:rPr>
              <a:t>Misspelled domain names (e.g., paypa1.com, arnazon.com)</a:t>
            </a:r>
            <a:endParaRPr lang="en-US" sz="1350" dirty="0"/>
          </a:p>
        </p:txBody>
      </p:sp>
      <p:sp>
        <p:nvSpPr>
          <p:cNvPr id="7" name="Shape 4"/>
          <p:cNvSpPr/>
          <p:nvPr/>
        </p:nvSpPr>
        <p:spPr>
          <a:xfrm>
            <a:off x="868680" y="3300984"/>
            <a:ext cx="109728" cy="109728"/>
          </a:xfrm>
          <a:prstGeom prst="ellipse">
            <a:avLst/>
          </a:prstGeom>
          <a:solidFill>
            <a:srgbClr val="E4572E"/>
          </a:solidFill>
          <a:ln/>
        </p:spPr>
      </p:sp>
      <p:sp>
        <p:nvSpPr>
          <p:cNvPr id="8" name="Text 5"/>
          <p:cNvSpPr/>
          <p:nvPr/>
        </p:nvSpPr>
        <p:spPr>
          <a:xfrm>
            <a:off x="1097280" y="3154680"/>
            <a:ext cx="4754880" cy="640080"/>
          </a:xfrm>
          <a:prstGeom prst="rect">
            <a:avLst/>
          </a:prstGeom>
          <a:noFill/>
          <a:ln/>
        </p:spPr>
        <p:txBody>
          <a:bodyPr wrap="square" rtlCol="0" anchor="ctr"/>
          <a:lstStyle/>
          <a:p>
            <a:pPr indent="0" marL="0">
              <a:lnSpc>
                <a:spcPct val="115000"/>
              </a:lnSpc>
              <a:buNone/>
            </a:pPr>
            <a:r>
              <a:rPr lang="en-US" sz="1350" dirty="0">
                <a:solidFill>
                  <a:srgbClr val="1B1F3B"/>
                </a:solidFill>
                <a:latin typeface="Calibri" pitchFamily="34" charset="0"/>
                <a:ea typeface="Calibri" pitchFamily="34" charset="-122"/>
                <a:cs typeface="Calibri" pitchFamily="34" charset="-120"/>
              </a:rPr>
              <a:t>No padlock icon or "https://" in the address bar</a:t>
            </a:r>
            <a:endParaRPr lang="en-US" sz="1350" dirty="0"/>
          </a:p>
        </p:txBody>
      </p:sp>
      <p:sp>
        <p:nvSpPr>
          <p:cNvPr id="9" name="Shape 6"/>
          <p:cNvSpPr/>
          <p:nvPr/>
        </p:nvSpPr>
        <p:spPr>
          <a:xfrm>
            <a:off x="868680" y="4078224"/>
            <a:ext cx="109728" cy="109728"/>
          </a:xfrm>
          <a:prstGeom prst="ellipse">
            <a:avLst/>
          </a:prstGeom>
          <a:solidFill>
            <a:srgbClr val="E4572E"/>
          </a:solidFill>
          <a:ln/>
        </p:spPr>
      </p:sp>
      <p:sp>
        <p:nvSpPr>
          <p:cNvPr id="10" name="Text 7"/>
          <p:cNvSpPr/>
          <p:nvPr/>
        </p:nvSpPr>
        <p:spPr>
          <a:xfrm>
            <a:off x="1097280" y="3931920"/>
            <a:ext cx="4754880" cy="640080"/>
          </a:xfrm>
          <a:prstGeom prst="rect">
            <a:avLst/>
          </a:prstGeom>
          <a:noFill/>
          <a:ln/>
        </p:spPr>
        <p:txBody>
          <a:bodyPr wrap="square" rtlCol="0" anchor="ctr"/>
          <a:lstStyle/>
          <a:p>
            <a:pPr indent="0" marL="0">
              <a:lnSpc>
                <a:spcPct val="115000"/>
              </a:lnSpc>
              <a:buNone/>
            </a:pPr>
            <a:r>
              <a:rPr lang="en-US" sz="1350" dirty="0">
                <a:solidFill>
                  <a:srgbClr val="1B1F3B"/>
                </a:solidFill>
                <a:latin typeface="Calibri" pitchFamily="34" charset="0"/>
                <a:ea typeface="Calibri" pitchFamily="34" charset="-122"/>
                <a:cs typeface="Calibri" pitchFamily="34" charset="-120"/>
              </a:rPr>
              <a:t>Pop-ups demanding urgent login or payment</a:t>
            </a:r>
            <a:endParaRPr lang="en-US" sz="1350" dirty="0"/>
          </a:p>
        </p:txBody>
      </p:sp>
      <p:sp>
        <p:nvSpPr>
          <p:cNvPr id="11" name="Shape 8"/>
          <p:cNvSpPr/>
          <p:nvPr/>
        </p:nvSpPr>
        <p:spPr>
          <a:xfrm>
            <a:off x="868680" y="4855464"/>
            <a:ext cx="109728" cy="109728"/>
          </a:xfrm>
          <a:prstGeom prst="ellipse">
            <a:avLst/>
          </a:prstGeom>
          <a:solidFill>
            <a:srgbClr val="E4572E"/>
          </a:solidFill>
          <a:ln/>
        </p:spPr>
      </p:sp>
      <p:sp>
        <p:nvSpPr>
          <p:cNvPr id="12" name="Text 9"/>
          <p:cNvSpPr/>
          <p:nvPr/>
        </p:nvSpPr>
        <p:spPr>
          <a:xfrm>
            <a:off x="1097280" y="4709160"/>
            <a:ext cx="4754880" cy="640080"/>
          </a:xfrm>
          <a:prstGeom prst="rect">
            <a:avLst/>
          </a:prstGeom>
          <a:noFill/>
          <a:ln/>
        </p:spPr>
        <p:txBody>
          <a:bodyPr wrap="square" rtlCol="0" anchor="ctr"/>
          <a:lstStyle/>
          <a:p>
            <a:pPr indent="0" marL="0">
              <a:lnSpc>
                <a:spcPct val="115000"/>
              </a:lnSpc>
              <a:buNone/>
            </a:pPr>
            <a:r>
              <a:rPr lang="en-US" sz="1350" dirty="0">
                <a:solidFill>
                  <a:srgbClr val="1B1F3B"/>
                </a:solidFill>
                <a:latin typeface="Calibri" pitchFamily="34" charset="0"/>
                <a:ea typeface="Calibri" pitchFamily="34" charset="-122"/>
                <a:cs typeface="Calibri" pitchFamily="34" charset="-120"/>
              </a:rPr>
              <a:t>Poor design quality: broken layout, low-res logos</a:t>
            </a:r>
            <a:endParaRPr lang="en-US" sz="1350" dirty="0"/>
          </a:p>
        </p:txBody>
      </p:sp>
      <p:sp>
        <p:nvSpPr>
          <p:cNvPr id="13" name="Shape 10"/>
          <p:cNvSpPr/>
          <p:nvPr/>
        </p:nvSpPr>
        <p:spPr>
          <a:xfrm>
            <a:off x="868680" y="5632704"/>
            <a:ext cx="109728" cy="109728"/>
          </a:xfrm>
          <a:prstGeom prst="ellipse">
            <a:avLst/>
          </a:prstGeom>
          <a:solidFill>
            <a:srgbClr val="E4572E"/>
          </a:solidFill>
          <a:ln/>
        </p:spPr>
      </p:sp>
      <p:sp>
        <p:nvSpPr>
          <p:cNvPr id="14" name="Text 11"/>
          <p:cNvSpPr/>
          <p:nvPr/>
        </p:nvSpPr>
        <p:spPr>
          <a:xfrm>
            <a:off x="1097280" y="5486400"/>
            <a:ext cx="4754880" cy="640080"/>
          </a:xfrm>
          <a:prstGeom prst="rect">
            <a:avLst/>
          </a:prstGeom>
          <a:noFill/>
          <a:ln/>
        </p:spPr>
        <p:txBody>
          <a:bodyPr wrap="square" rtlCol="0" anchor="ctr"/>
          <a:lstStyle/>
          <a:p>
            <a:pPr indent="0" marL="0">
              <a:lnSpc>
                <a:spcPct val="115000"/>
              </a:lnSpc>
              <a:buNone/>
            </a:pPr>
            <a:r>
              <a:rPr lang="en-US" sz="1350" dirty="0">
                <a:solidFill>
                  <a:srgbClr val="1B1F3B"/>
                </a:solidFill>
                <a:latin typeface="Calibri" pitchFamily="34" charset="0"/>
                <a:ea typeface="Calibri" pitchFamily="34" charset="-122"/>
                <a:cs typeface="Calibri" pitchFamily="34" charset="-120"/>
              </a:rPr>
              <a:t>A login page for a service you never signed up for</a:t>
            </a:r>
            <a:endParaRPr lang="en-US" sz="1350" dirty="0"/>
          </a:p>
        </p:txBody>
      </p:sp>
      <p:sp>
        <p:nvSpPr>
          <p:cNvPr id="15" name="Shape 12"/>
          <p:cNvSpPr/>
          <p:nvPr/>
        </p:nvSpPr>
        <p:spPr>
          <a:xfrm>
            <a:off x="6309360" y="1463040"/>
            <a:ext cx="5303520" cy="4754880"/>
          </a:xfrm>
          <a:prstGeom prst="rect">
            <a:avLst/>
          </a:prstGeom>
          <a:solidFill>
            <a:srgbClr val="1B1F3B"/>
          </a:solidFill>
          <a:ln/>
        </p:spPr>
      </p:sp>
      <p:pic>
        <p:nvPicPr>
          <p:cNvPr id="16" name="Image 1" descr="icon_inspect.png">    </p:cNvPr>
          <p:cNvPicPr>
            <a:picLocks noChangeAspect="1"/>
          </p:cNvPicPr>
          <p:nvPr/>
        </p:nvPicPr>
        <p:blipFill>
          <a:blip r:embed="rId2"/>
          <a:stretch>
            <a:fillRect/>
          </a:stretch>
        </p:blipFill>
        <p:spPr>
          <a:xfrm>
            <a:off x="8686800" y="1783080"/>
            <a:ext cx="640080" cy="640080"/>
          </a:xfrm>
          <a:prstGeom prst="rect">
            <a:avLst/>
          </a:prstGeom>
        </p:spPr>
      </p:pic>
      <p:sp>
        <p:nvSpPr>
          <p:cNvPr id="17" name="Text 13"/>
          <p:cNvSpPr/>
          <p:nvPr/>
        </p:nvSpPr>
        <p:spPr>
          <a:xfrm>
            <a:off x="6583680" y="2606040"/>
            <a:ext cx="4754880" cy="457200"/>
          </a:xfrm>
          <a:prstGeom prst="rect">
            <a:avLst/>
          </a:prstGeom>
          <a:noFill/>
          <a:ln/>
        </p:spPr>
        <p:txBody>
          <a:bodyPr wrap="square" rtlCol="0" anchor="ctr"/>
          <a:lstStyle/>
          <a:p>
            <a:pPr indent="0" marL="0">
              <a:buNone/>
            </a:pPr>
            <a:r>
              <a:rPr lang="en-US" sz="1800" b="1" dirty="0">
                <a:solidFill>
                  <a:srgbClr val="F4F1EA"/>
                </a:solidFill>
                <a:latin typeface="Georgia" pitchFamily="34" charset="0"/>
                <a:ea typeface="Georgia" pitchFamily="34" charset="-122"/>
                <a:cs typeface="Georgia" pitchFamily="34" charset="-120"/>
              </a:rPr>
              <a:t>Before you trust a link</a:t>
            </a:r>
            <a:endParaRPr lang="en-US" sz="1800" dirty="0"/>
          </a:p>
        </p:txBody>
      </p:sp>
      <p:sp>
        <p:nvSpPr>
          <p:cNvPr id="18" name="Text 14"/>
          <p:cNvSpPr/>
          <p:nvPr/>
        </p:nvSpPr>
        <p:spPr>
          <a:xfrm>
            <a:off x="6583680" y="3154680"/>
            <a:ext cx="4846320" cy="2651760"/>
          </a:xfrm>
          <a:prstGeom prst="rect">
            <a:avLst/>
          </a:prstGeom>
          <a:noFill/>
          <a:ln/>
        </p:spPr>
        <p:txBody>
          <a:bodyPr wrap="square" rtlCol="0" anchor="ctr"/>
          <a:lstStyle/>
          <a:p>
            <a:pPr indent="0" marL="0">
              <a:lnSpc>
                <a:spcPct val="130000"/>
              </a:lnSpc>
              <a:buNone/>
            </a:pPr>
            <a:r>
              <a:rPr lang="en-US" sz="1350" dirty="0">
                <a:solidFill>
                  <a:srgbClr val="D7DAEC"/>
                </a:solidFill>
                <a:latin typeface="Calibri" pitchFamily="34" charset="0"/>
                <a:ea typeface="Calibri" pitchFamily="34" charset="-122"/>
                <a:cs typeface="Calibri" pitchFamily="34" charset="-120"/>
              </a:rPr>
              <a:t>Hover over any link before clicking to preview the real destination. Type the company's address directly into your browser instead of clicking through an email. When in doubt, close the message and log in the way you normally would.</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822960"/>
          </a:xfrm>
          <a:prstGeom prst="rect">
            <a:avLst/>
          </a:prstGeom>
          <a:noFill/>
          <a:ln/>
        </p:spPr>
        <p:txBody>
          <a:bodyPr wrap="square" rtlCol="0" anchor="ctr"/>
          <a:lstStyle/>
          <a:p>
            <a:pPr algn="l" indent="0" marL="0">
              <a:buNone/>
            </a:pPr>
            <a:r>
              <a:rPr lang="en-US" sz="3000" b="1" dirty="0">
                <a:solidFill>
                  <a:srgbClr val="1B1F3B"/>
                </a:solidFill>
                <a:latin typeface="Georgia" pitchFamily="34" charset="0"/>
                <a:ea typeface="Georgia" pitchFamily="34" charset="-122"/>
                <a:cs typeface="Georgia" pitchFamily="34" charset="-120"/>
              </a:rPr>
              <a:t>Social Engineering Tactics</a:t>
            </a:r>
            <a:endParaRPr lang="en-US" sz="3000" dirty="0"/>
          </a:p>
        </p:txBody>
      </p:sp>
      <p:sp>
        <p:nvSpPr>
          <p:cNvPr id="3" name="Shape 1"/>
          <p:cNvSpPr/>
          <p:nvPr/>
        </p:nvSpPr>
        <p:spPr>
          <a:xfrm>
            <a:off x="548640" y="1508760"/>
            <a:ext cx="5394960" cy="2148840"/>
          </a:xfrm>
          <a:prstGeom prst="rect">
            <a:avLst/>
          </a:prstGeom>
          <a:solidFill>
            <a:srgbClr val="F2F3F7"/>
          </a:solidFill>
          <a:ln/>
        </p:spPr>
      </p:sp>
      <p:sp>
        <p:nvSpPr>
          <p:cNvPr id="4" name="Shape 2"/>
          <p:cNvSpPr/>
          <p:nvPr/>
        </p:nvSpPr>
        <p:spPr>
          <a:xfrm>
            <a:off x="822960" y="1920240"/>
            <a:ext cx="822960" cy="822960"/>
          </a:xfrm>
          <a:prstGeom prst="ellipse">
            <a:avLst/>
          </a:prstGeom>
          <a:solidFill>
            <a:srgbClr val="1B1F3B"/>
          </a:solidFill>
          <a:ln/>
        </p:spPr>
      </p:sp>
      <p:pic>
        <p:nvPicPr>
          <p:cNvPr id="5" name="Image 0" descr="icon_urgency.png">    </p:cNvPr>
          <p:cNvPicPr>
            <a:picLocks noChangeAspect="1"/>
          </p:cNvPicPr>
          <p:nvPr/>
        </p:nvPicPr>
        <p:blipFill>
          <a:blip r:embed="rId1"/>
          <a:stretch>
            <a:fillRect/>
          </a:stretch>
        </p:blipFill>
        <p:spPr>
          <a:xfrm>
            <a:off x="987552" y="2084832"/>
            <a:ext cx="493776" cy="493776"/>
          </a:xfrm>
          <a:prstGeom prst="rect">
            <a:avLst/>
          </a:prstGeom>
        </p:spPr>
      </p:pic>
      <p:sp>
        <p:nvSpPr>
          <p:cNvPr id="6" name="Text 3"/>
          <p:cNvSpPr/>
          <p:nvPr/>
        </p:nvSpPr>
        <p:spPr>
          <a:xfrm>
            <a:off x="1828800" y="1828800"/>
            <a:ext cx="3931920" cy="457200"/>
          </a:xfrm>
          <a:prstGeom prst="rect">
            <a:avLst/>
          </a:prstGeom>
          <a:noFill/>
          <a:ln/>
        </p:spPr>
        <p:txBody>
          <a:bodyPr wrap="square" rtlCol="0" anchor="ctr"/>
          <a:lstStyle/>
          <a:p>
            <a:pPr indent="0" marL="0">
              <a:buNone/>
            </a:pPr>
            <a:r>
              <a:rPr lang="en-US" sz="1700" b="1" dirty="0">
                <a:solidFill>
                  <a:srgbClr val="1B1F3B"/>
                </a:solidFill>
                <a:latin typeface="Georgia" pitchFamily="34" charset="0"/>
                <a:ea typeface="Georgia" pitchFamily="34" charset="-122"/>
                <a:cs typeface="Georgia" pitchFamily="34" charset="-120"/>
              </a:rPr>
              <a:t>Urgency</a:t>
            </a:r>
            <a:endParaRPr lang="en-US" sz="1700" dirty="0"/>
          </a:p>
        </p:txBody>
      </p:sp>
      <p:sp>
        <p:nvSpPr>
          <p:cNvPr id="7" name="Text 4"/>
          <p:cNvSpPr/>
          <p:nvPr/>
        </p:nvSpPr>
        <p:spPr>
          <a:xfrm>
            <a:off x="1828800" y="2331720"/>
            <a:ext cx="3931920" cy="1188720"/>
          </a:xfrm>
          <a:prstGeom prst="rect">
            <a:avLst/>
          </a:prstGeom>
          <a:noFill/>
          <a:ln/>
        </p:spPr>
        <p:txBody>
          <a:bodyPr wrap="square" rtlCol="0" anchor="ctr"/>
          <a:lstStyle/>
          <a:p>
            <a:pPr indent="0" marL="0">
              <a:lnSpc>
                <a:spcPct val="120000"/>
              </a:lnSpc>
              <a:buNone/>
            </a:pPr>
            <a:r>
              <a:rPr lang="en-US" sz="1250" dirty="0">
                <a:solidFill>
                  <a:srgbClr val="4A5568"/>
                </a:solidFill>
                <a:latin typeface="Calibri" pitchFamily="34" charset="0"/>
                <a:ea typeface="Calibri" pitchFamily="34" charset="-122"/>
                <a:cs typeface="Calibri" pitchFamily="34" charset="-120"/>
              </a:rPr>
              <a:t>"Act within 24 hours or lose access" — pressure short-circuits careful thinking.</a:t>
            </a:r>
            <a:endParaRPr lang="en-US" sz="1250" dirty="0"/>
          </a:p>
        </p:txBody>
      </p:sp>
      <p:sp>
        <p:nvSpPr>
          <p:cNvPr id="8" name="Shape 5"/>
          <p:cNvSpPr/>
          <p:nvPr/>
        </p:nvSpPr>
        <p:spPr>
          <a:xfrm>
            <a:off x="6217920" y="1508760"/>
            <a:ext cx="5394960" cy="2148840"/>
          </a:xfrm>
          <a:prstGeom prst="rect">
            <a:avLst/>
          </a:prstGeom>
          <a:solidFill>
            <a:srgbClr val="F2F3F7"/>
          </a:solidFill>
          <a:ln/>
        </p:spPr>
      </p:sp>
      <p:sp>
        <p:nvSpPr>
          <p:cNvPr id="9" name="Shape 6"/>
          <p:cNvSpPr/>
          <p:nvPr/>
        </p:nvSpPr>
        <p:spPr>
          <a:xfrm>
            <a:off x="6492240" y="1920240"/>
            <a:ext cx="822960" cy="822960"/>
          </a:xfrm>
          <a:prstGeom prst="ellipse">
            <a:avLst/>
          </a:prstGeom>
          <a:solidFill>
            <a:srgbClr val="1B1F3B"/>
          </a:solidFill>
          <a:ln/>
        </p:spPr>
      </p:sp>
      <p:pic>
        <p:nvPicPr>
          <p:cNvPr id="10" name="Image 1" descr="icon_authority.png">    </p:cNvPr>
          <p:cNvPicPr>
            <a:picLocks noChangeAspect="1"/>
          </p:cNvPicPr>
          <p:nvPr/>
        </p:nvPicPr>
        <p:blipFill>
          <a:blip r:embed="rId2"/>
          <a:stretch>
            <a:fillRect/>
          </a:stretch>
        </p:blipFill>
        <p:spPr>
          <a:xfrm>
            <a:off x="6656832" y="2084832"/>
            <a:ext cx="493776" cy="493776"/>
          </a:xfrm>
          <a:prstGeom prst="rect">
            <a:avLst/>
          </a:prstGeom>
        </p:spPr>
      </p:pic>
      <p:sp>
        <p:nvSpPr>
          <p:cNvPr id="11" name="Text 7"/>
          <p:cNvSpPr/>
          <p:nvPr/>
        </p:nvSpPr>
        <p:spPr>
          <a:xfrm>
            <a:off x="7498080" y="1828800"/>
            <a:ext cx="3931920" cy="457200"/>
          </a:xfrm>
          <a:prstGeom prst="rect">
            <a:avLst/>
          </a:prstGeom>
          <a:noFill/>
          <a:ln/>
        </p:spPr>
        <p:txBody>
          <a:bodyPr wrap="square" rtlCol="0" anchor="ctr"/>
          <a:lstStyle/>
          <a:p>
            <a:pPr indent="0" marL="0">
              <a:buNone/>
            </a:pPr>
            <a:r>
              <a:rPr lang="en-US" sz="1700" b="1" dirty="0">
                <a:solidFill>
                  <a:srgbClr val="1B1F3B"/>
                </a:solidFill>
                <a:latin typeface="Georgia" pitchFamily="34" charset="0"/>
                <a:ea typeface="Georgia" pitchFamily="34" charset="-122"/>
                <a:cs typeface="Georgia" pitchFamily="34" charset="-120"/>
              </a:rPr>
              <a:t>Authority</a:t>
            </a:r>
            <a:endParaRPr lang="en-US" sz="1700" dirty="0"/>
          </a:p>
        </p:txBody>
      </p:sp>
      <p:sp>
        <p:nvSpPr>
          <p:cNvPr id="12" name="Text 8"/>
          <p:cNvSpPr/>
          <p:nvPr/>
        </p:nvSpPr>
        <p:spPr>
          <a:xfrm>
            <a:off x="7498080" y="2331720"/>
            <a:ext cx="3931920" cy="1188720"/>
          </a:xfrm>
          <a:prstGeom prst="rect">
            <a:avLst/>
          </a:prstGeom>
          <a:noFill/>
          <a:ln/>
        </p:spPr>
        <p:txBody>
          <a:bodyPr wrap="square" rtlCol="0" anchor="ctr"/>
          <a:lstStyle/>
          <a:p>
            <a:pPr indent="0" marL="0">
              <a:lnSpc>
                <a:spcPct val="120000"/>
              </a:lnSpc>
              <a:buNone/>
            </a:pPr>
            <a:r>
              <a:rPr lang="en-US" sz="1250" dirty="0">
                <a:solidFill>
                  <a:srgbClr val="4A5568"/>
                </a:solidFill>
                <a:latin typeface="Calibri" pitchFamily="34" charset="0"/>
                <a:ea typeface="Calibri" pitchFamily="34" charset="-122"/>
                <a:cs typeface="Calibri" pitchFamily="34" charset="-120"/>
              </a:rPr>
              <a:t>Impersonating a CEO, bank, or government agency to make requests feel legitimate.</a:t>
            </a:r>
            <a:endParaRPr lang="en-US" sz="1250" dirty="0"/>
          </a:p>
        </p:txBody>
      </p:sp>
      <p:sp>
        <p:nvSpPr>
          <p:cNvPr id="13" name="Shape 9"/>
          <p:cNvSpPr/>
          <p:nvPr/>
        </p:nvSpPr>
        <p:spPr>
          <a:xfrm>
            <a:off x="548640" y="3931920"/>
            <a:ext cx="5394960" cy="2148840"/>
          </a:xfrm>
          <a:prstGeom prst="rect">
            <a:avLst/>
          </a:prstGeom>
          <a:solidFill>
            <a:srgbClr val="F2F3F7"/>
          </a:solidFill>
          <a:ln/>
        </p:spPr>
      </p:sp>
      <p:sp>
        <p:nvSpPr>
          <p:cNvPr id="14" name="Shape 10"/>
          <p:cNvSpPr/>
          <p:nvPr/>
        </p:nvSpPr>
        <p:spPr>
          <a:xfrm>
            <a:off x="822960" y="4343400"/>
            <a:ext cx="822960" cy="822960"/>
          </a:xfrm>
          <a:prstGeom prst="ellipse">
            <a:avLst/>
          </a:prstGeom>
          <a:solidFill>
            <a:srgbClr val="1B1F3B"/>
          </a:solidFill>
          <a:ln/>
        </p:spPr>
      </p:sp>
      <p:pic>
        <p:nvPicPr>
          <p:cNvPr id="15" name="Image 2" descr="icon_greed.png">    </p:cNvPr>
          <p:cNvPicPr>
            <a:picLocks noChangeAspect="1"/>
          </p:cNvPicPr>
          <p:nvPr/>
        </p:nvPicPr>
        <p:blipFill>
          <a:blip r:embed="rId3"/>
          <a:stretch>
            <a:fillRect/>
          </a:stretch>
        </p:blipFill>
        <p:spPr>
          <a:xfrm>
            <a:off x="987552" y="4507992"/>
            <a:ext cx="493776" cy="493776"/>
          </a:xfrm>
          <a:prstGeom prst="rect">
            <a:avLst/>
          </a:prstGeom>
        </p:spPr>
      </p:pic>
      <p:sp>
        <p:nvSpPr>
          <p:cNvPr id="16" name="Text 11"/>
          <p:cNvSpPr/>
          <p:nvPr/>
        </p:nvSpPr>
        <p:spPr>
          <a:xfrm>
            <a:off x="1828800" y="4251960"/>
            <a:ext cx="3931920" cy="457200"/>
          </a:xfrm>
          <a:prstGeom prst="rect">
            <a:avLst/>
          </a:prstGeom>
          <a:noFill/>
          <a:ln/>
        </p:spPr>
        <p:txBody>
          <a:bodyPr wrap="square" rtlCol="0" anchor="ctr"/>
          <a:lstStyle/>
          <a:p>
            <a:pPr indent="0" marL="0">
              <a:buNone/>
            </a:pPr>
            <a:r>
              <a:rPr lang="en-US" sz="1700" b="1" dirty="0">
                <a:solidFill>
                  <a:srgbClr val="1B1F3B"/>
                </a:solidFill>
                <a:latin typeface="Georgia" pitchFamily="34" charset="0"/>
                <a:ea typeface="Georgia" pitchFamily="34" charset="-122"/>
                <a:cs typeface="Georgia" pitchFamily="34" charset="-120"/>
              </a:rPr>
              <a:t>Curiosity &amp; Greed</a:t>
            </a:r>
            <a:endParaRPr lang="en-US" sz="1700" dirty="0"/>
          </a:p>
        </p:txBody>
      </p:sp>
      <p:sp>
        <p:nvSpPr>
          <p:cNvPr id="17" name="Text 12"/>
          <p:cNvSpPr/>
          <p:nvPr/>
        </p:nvSpPr>
        <p:spPr>
          <a:xfrm>
            <a:off x="1828800" y="4754880"/>
            <a:ext cx="3931920" cy="1188720"/>
          </a:xfrm>
          <a:prstGeom prst="rect">
            <a:avLst/>
          </a:prstGeom>
          <a:noFill/>
          <a:ln/>
        </p:spPr>
        <p:txBody>
          <a:bodyPr wrap="square" rtlCol="0" anchor="ctr"/>
          <a:lstStyle/>
          <a:p>
            <a:pPr indent="0" marL="0">
              <a:lnSpc>
                <a:spcPct val="120000"/>
              </a:lnSpc>
              <a:buNone/>
            </a:pPr>
            <a:r>
              <a:rPr lang="en-US" sz="1250" dirty="0">
                <a:solidFill>
                  <a:srgbClr val="4A5568"/>
                </a:solidFill>
                <a:latin typeface="Calibri" pitchFamily="34" charset="0"/>
                <a:ea typeface="Calibri" pitchFamily="34" charset="-122"/>
                <a:cs typeface="Calibri" pitchFamily="34" charset="-120"/>
              </a:rPr>
              <a:t>Fake prize wins, invoices, or shipment notices designed to make you click.</a:t>
            </a:r>
            <a:endParaRPr lang="en-US" sz="1250" dirty="0"/>
          </a:p>
        </p:txBody>
      </p:sp>
      <p:sp>
        <p:nvSpPr>
          <p:cNvPr id="18" name="Shape 13"/>
          <p:cNvSpPr/>
          <p:nvPr/>
        </p:nvSpPr>
        <p:spPr>
          <a:xfrm>
            <a:off x="6217920" y="3931920"/>
            <a:ext cx="5394960" cy="2148840"/>
          </a:xfrm>
          <a:prstGeom prst="rect">
            <a:avLst/>
          </a:prstGeom>
          <a:solidFill>
            <a:srgbClr val="F2F3F7"/>
          </a:solidFill>
          <a:ln/>
        </p:spPr>
      </p:sp>
      <p:sp>
        <p:nvSpPr>
          <p:cNvPr id="19" name="Shape 14"/>
          <p:cNvSpPr/>
          <p:nvPr/>
        </p:nvSpPr>
        <p:spPr>
          <a:xfrm>
            <a:off x="6492240" y="4343400"/>
            <a:ext cx="822960" cy="822960"/>
          </a:xfrm>
          <a:prstGeom prst="ellipse">
            <a:avLst/>
          </a:prstGeom>
          <a:solidFill>
            <a:srgbClr val="1B1F3B"/>
          </a:solidFill>
          <a:ln/>
        </p:spPr>
      </p:sp>
      <p:pic>
        <p:nvPicPr>
          <p:cNvPr id="20" name="Image 3" descr="icon_socialeng.png">    </p:cNvPr>
          <p:cNvPicPr>
            <a:picLocks noChangeAspect="1"/>
          </p:cNvPicPr>
          <p:nvPr/>
        </p:nvPicPr>
        <p:blipFill>
          <a:blip r:embed="rId4"/>
          <a:stretch>
            <a:fillRect/>
          </a:stretch>
        </p:blipFill>
        <p:spPr>
          <a:xfrm>
            <a:off x="6656832" y="4507992"/>
            <a:ext cx="493776" cy="493776"/>
          </a:xfrm>
          <a:prstGeom prst="rect">
            <a:avLst/>
          </a:prstGeom>
        </p:spPr>
      </p:pic>
      <p:sp>
        <p:nvSpPr>
          <p:cNvPr id="21" name="Text 15"/>
          <p:cNvSpPr/>
          <p:nvPr/>
        </p:nvSpPr>
        <p:spPr>
          <a:xfrm>
            <a:off x="7498080" y="4251960"/>
            <a:ext cx="3931920" cy="457200"/>
          </a:xfrm>
          <a:prstGeom prst="rect">
            <a:avLst/>
          </a:prstGeom>
          <a:noFill/>
          <a:ln/>
        </p:spPr>
        <p:txBody>
          <a:bodyPr wrap="square" rtlCol="0" anchor="ctr"/>
          <a:lstStyle/>
          <a:p>
            <a:pPr indent="0" marL="0">
              <a:buNone/>
            </a:pPr>
            <a:r>
              <a:rPr lang="en-US" sz="1700" b="1" dirty="0">
                <a:solidFill>
                  <a:srgbClr val="1B1F3B"/>
                </a:solidFill>
                <a:latin typeface="Georgia" pitchFamily="34" charset="0"/>
                <a:ea typeface="Georgia" pitchFamily="34" charset="-122"/>
                <a:cs typeface="Georgia" pitchFamily="34" charset="-120"/>
              </a:rPr>
              <a:t>Fear</a:t>
            </a:r>
            <a:endParaRPr lang="en-US" sz="1700" dirty="0"/>
          </a:p>
        </p:txBody>
      </p:sp>
      <p:sp>
        <p:nvSpPr>
          <p:cNvPr id="22" name="Text 16"/>
          <p:cNvSpPr/>
          <p:nvPr/>
        </p:nvSpPr>
        <p:spPr>
          <a:xfrm>
            <a:off x="7498080" y="4754880"/>
            <a:ext cx="3931920" cy="1188720"/>
          </a:xfrm>
          <a:prstGeom prst="rect">
            <a:avLst/>
          </a:prstGeom>
          <a:noFill/>
          <a:ln/>
        </p:spPr>
        <p:txBody>
          <a:bodyPr wrap="square" rtlCol="0" anchor="ctr"/>
          <a:lstStyle/>
          <a:p>
            <a:pPr indent="0" marL="0">
              <a:lnSpc>
                <a:spcPct val="120000"/>
              </a:lnSpc>
              <a:buNone/>
            </a:pPr>
            <a:r>
              <a:rPr lang="en-US" sz="1250" dirty="0">
                <a:solidFill>
                  <a:srgbClr val="4A5568"/>
                </a:solidFill>
                <a:latin typeface="Calibri" pitchFamily="34" charset="0"/>
                <a:ea typeface="Calibri" pitchFamily="34" charset="-122"/>
                <a:cs typeface="Calibri" pitchFamily="34" charset="-120"/>
              </a:rPr>
              <a:t>Threats of account suspension, legal trouble, or exposure to force quick compliance.</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1F3B"/>
        </a:solidFill>
      </p:bgPr>
    </p:bg>
    <p:spTree>
      <p:nvGrpSpPr>
        <p:cNvPr id="1" name=""/>
        <p:cNvGrpSpPr/>
        <p:nvPr/>
      </p:nvGrpSpPr>
      <p:grpSpPr>
        <a:xfrm>
          <a:off x="0" y="0"/>
          <a:ext cx="0" cy="0"/>
          <a:chOff x="0" y="0"/>
          <a:chExt cx="0" cy="0"/>
        </a:xfrm>
      </p:grpSpPr>
      <p:sp>
        <p:nvSpPr>
          <p:cNvPr id="2" name="Text 0"/>
          <p:cNvSpPr/>
          <p:nvPr/>
        </p:nvSpPr>
        <p:spPr>
          <a:xfrm>
            <a:off x="548640" y="411480"/>
            <a:ext cx="11064240" cy="822960"/>
          </a:xfrm>
          <a:prstGeom prst="rect">
            <a:avLst/>
          </a:prstGeom>
          <a:noFill/>
          <a:ln/>
        </p:spPr>
        <p:txBody>
          <a:bodyPr wrap="square" rtlCol="0" anchor="ctr"/>
          <a:lstStyle/>
          <a:p>
            <a:pPr algn="l" indent="0" marL="0">
              <a:buNone/>
            </a:pPr>
            <a:r>
              <a:rPr lang="en-US" sz="3000" b="1" dirty="0">
                <a:solidFill>
                  <a:srgbClr val="F4F1EA"/>
                </a:solidFill>
                <a:latin typeface="Georgia" pitchFamily="34" charset="0"/>
                <a:ea typeface="Georgia" pitchFamily="34" charset="-122"/>
                <a:cs typeface="Georgia" pitchFamily="34" charset="-120"/>
              </a:rPr>
              <a:t>Case Study: The Invoice Scam</a:t>
            </a:r>
            <a:endParaRPr lang="en-US" sz="3000" dirty="0"/>
          </a:p>
        </p:txBody>
      </p:sp>
      <p:sp>
        <p:nvSpPr>
          <p:cNvPr id="3" name="Text 1"/>
          <p:cNvSpPr/>
          <p:nvPr/>
        </p:nvSpPr>
        <p:spPr>
          <a:xfrm>
            <a:off x="548640" y="1143000"/>
            <a:ext cx="9144000" cy="365760"/>
          </a:xfrm>
          <a:prstGeom prst="rect">
            <a:avLst/>
          </a:prstGeom>
          <a:noFill/>
          <a:ln/>
        </p:spPr>
        <p:txBody>
          <a:bodyPr wrap="square" rtlCol="0" anchor="ctr"/>
          <a:lstStyle/>
          <a:p>
            <a:pPr indent="0" marL="0">
              <a:buNone/>
            </a:pPr>
            <a:r>
              <a:rPr lang="en-US" sz="1300" i="1" dirty="0">
                <a:solidFill>
                  <a:srgbClr val="9BA0C7"/>
                </a:solidFill>
              </a:rPr>
              <a:t>A composite scenario based on common real-world reports</a:t>
            </a:r>
            <a:endParaRPr lang="en-US" sz="1300" dirty="0"/>
          </a:p>
        </p:txBody>
      </p:sp>
      <p:sp>
        <p:nvSpPr>
          <p:cNvPr id="4" name="Shape 2"/>
          <p:cNvSpPr/>
          <p:nvPr/>
        </p:nvSpPr>
        <p:spPr>
          <a:xfrm>
            <a:off x="548640" y="1737360"/>
            <a:ext cx="502920" cy="502920"/>
          </a:xfrm>
          <a:prstGeom prst="ellipse">
            <a:avLst/>
          </a:prstGeom>
          <a:solidFill>
            <a:srgbClr val="E4572E"/>
          </a:solidFill>
          <a:ln/>
        </p:spPr>
      </p:sp>
      <p:sp>
        <p:nvSpPr>
          <p:cNvPr id="5" name="Text 3"/>
          <p:cNvSpPr/>
          <p:nvPr/>
        </p:nvSpPr>
        <p:spPr>
          <a:xfrm>
            <a:off x="548640" y="1737360"/>
            <a:ext cx="502920" cy="502920"/>
          </a:xfrm>
          <a:prstGeom prst="rect">
            <a:avLst/>
          </a:prstGeom>
          <a:noFill/>
          <a:ln/>
        </p:spPr>
        <p:txBody>
          <a:bodyPr wrap="square" rtlCol="0" anchor="ctr"/>
          <a:lstStyle/>
          <a:p>
            <a:pPr algn="ctr" indent="0" marL="0">
              <a:buNone/>
            </a:pPr>
            <a:r>
              <a:rPr lang="en-US" sz="1800" b="1" dirty="0">
                <a:solidFill>
                  <a:srgbClr val="F4F1EA"/>
                </a:solidFill>
              </a:rPr>
              <a:t>1</a:t>
            </a:r>
            <a:endParaRPr lang="en-US" sz="1800" dirty="0"/>
          </a:p>
        </p:txBody>
      </p:sp>
      <p:sp>
        <p:nvSpPr>
          <p:cNvPr id="6" name="Text 4"/>
          <p:cNvSpPr/>
          <p:nvPr/>
        </p:nvSpPr>
        <p:spPr>
          <a:xfrm>
            <a:off x="1234440" y="1691640"/>
            <a:ext cx="9875520" cy="822960"/>
          </a:xfrm>
          <a:prstGeom prst="rect">
            <a:avLst/>
          </a:prstGeom>
          <a:noFill/>
          <a:ln/>
        </p:spPr>
        <p:txBody>
          <a:bodyPr wrap="square" rtlCol="0" anchor="ctr"/>
          <a:lstStyle/>
          <a:p>
            <a:pPr indent="0" marL="0">
              <a:lnSpc>
                <a:spcPct val="120000"/>
              </a:lnSpc>
              <a:buNone/>
            </a:pPr>
            <a:r>
              <a:rPr lang="en-US" sz="1400" dirty="0">
                <a:solidFill>
                  <a:srgbClr val="F4F1EA"/>
                </a:solidFill>
                <a:latin typeface="Calibri" pitchFamily="34" charset="0"/>
                <a:ea typeface="Calibri" pitchFamily="34" charset="-122"/>
                <a:cs typeface="Calibri" pitchFamily="34" charset="-120"/>
              </a:rPr>
              <a:t>An employee in finance receives an email that appears to be from a known vendor, requesting an urgent change to their bank details for an upcoming payment.</a:t>
            </a:r>
            <a:endParaRPr lang="en-US" sz="1400" dirty="0"/>
          </a:p>
        </p:txBody>
      </p:sp>
      <p:sp>
        <p:nvSpPr>
          <p:cNvPr id="7" name="Shape 5"/>
          <p:cNvSpPr/>
          <p:nvPr/>
        </p:nvSpPr>
        <p:spPr>
          <a:xfrm>
            <a:off x="548640" y="2788920"/>
            <a:ext cx="502920" cy="502920"/>
          </a:xfrm>
          <a:prstGeom prst="ellipse">
            <a:avLst/>
          </a:prstGeom>
          <a:solidFill>
            <a:srgbClr val="E4572E"/>
          </a:solidFill>
          <a:ln/>
        </p:spPr>
      </p:sp>
      <p:sp>
        <p:nvSpPr>
          <p:cNvPr id="8" name="Text 6"/>
          <p:cNvSpPr/>
          <p:nvPr/>
        </p:nvSpPr>
        <p:spPr>
          <a:xfrm>
            <a:off x="548640" y="2788920"/>
            <a:ext cx="502920" cy="502920"/>
          </a:xfrm>
          <a:prstGeom prst="rect">
            <a:avLst/>
          </a:prstGeom>
          <a:noFill/>
          <a:ln/>
        </p:spPr>
        <p:txBody>
          <a:bodyPr wrap="square" rtlCol="0" anchor="ctr"/>
          <a:lstStyle/>
          <a:p>
            <a:pPr algn="ctr" indent="0" marL="0">
              <a:buNone/>
            </a:pPr>
            <a:r>
              <a:rPr lang="en-US" sz="1800" b="1" dirty="0">
                <a:solidFill>
                  <a:srgbClr val="F4F1EA"/>
                </a:solidFill>
              </a:rPr>
              <a:t>2</a:t>
            </a:r>
            <a:endParaRPr lang="en-US" sz="1800" dirty="0"/>
          </a:p>
        </p:txBody>
      </p:sp>
      <p:sp>
        <p:nvSpPr>
          <p:cNvPr id="9" name="Text 7"/>
          <p:cNvSpPr/>
          <p:nvPr/>
        </p:nvSpPr>
        <p:spPr>
          <a:xfrm>
            <a:off x="1234440" y="2743200"/>
            <a:ext cx="9875520" cy="822960"/>
          </a:xfrm>
          <a:prstGeom prst="rect">
            <a:avLst/>
          </a:prstGeom>
          <a:noFill/>
          <a:ln/>
        </p:spPr>
        <p:txBody>
          <a:bodyPr wrap="square" rtlCol="0" anchor="ctr"/>
          <a:lstStyle/>
          <a:p>
            <a:pPr indent="0" marL="0">
              <a:lnSpc>
                <a:spcPct val="120000"/>
              </a:lnSpc>
              <a:buNone/>
            </a:pPr>
            <a:r>
              <a:rPr lang="en-US" sz="1400" dirty="0">
                <a:solidFill>
                  <a:srgbClr val="F4F1EA"/>
                </a:solidFill>
                <a:latin typeface="Calibri" pitchFamily="34" charset="0"/>
                <a:ea typeface="Calibri" pitchFamily="34" charset="-122"/>
                <a:cs typeface="Calibri" pitchFamily="34" charset="-120"/>
              </a:rPr>
              <a:t>The email address is nearly identical to the real vendor's — one letter is swapped, easy to miss at a glance.</a:t>
            </a:r>
            <a:endParaRPr lang="en-US" sz="1400" dirty="0"/>
          </a:p>
        </p:txBody>
      </p:sp>
      <p:sp>
        <p:nvSpPr>
          <p:cNvPr id="10" name="Shape 8"/>
          <p:cNvSpPr/>
          <p:nvPr/>
        </p:nvSpPr>
        <p:spPr>
          <a:xfrm>
            <a:off x="548640" y="3840480"/>
            <a:ext cx="502920" cy="502920"/>
          </a:xfrm>
          <a:prstGeom prst="ellipse">
            <a:avLst/>
          </a:prstGeom>
          <a:solidFill>
            <a:srgbClr val="E4572E"/>
          </a:solidFill>
          <a:ln/>
        </p:spPr>
      </p:sp>
      <p:sp>
        <p:nvSpPr>
          <p:cNvPr id="11" name="Text 9"/>
          <p:cNvSpPr/>
          <p:nvPr/>
        </p:nvSpPr>
        <p:spPr>
          <a:xfrm>
            <a:off x="548640" y="3840480"/>
            <a:ext cx="502920" cy="502920"/>
          </a:xfrm>
          <a:prstGeom prst="rect">
            <a:avLst/>
          </a:prstGeom>
          <a:noFill/>
          <a:ln/>
        </p:spPr>
        <p:txBody>
          <a:bodyPr wrap="square" rtlCol="0" anchor="ctr"/>
          <a:lstStyle/>
          <a:p>
            <a:pPr algn="ctr" indent="0" marL="0">
              <a:buNone/>
            </a:pPr>
            <a:r>
              <a:rPr lang="en-US" sz="1800" b="1" dirty="0">
                <a:solidFill>
                  <a:srgbClr val="F4F1EA"/>
                </a:solidFill>
              </a:rPr>
              <a:t>3</a:t>
            </a:r>
            <a:endParaRPr lang="en-US" sz="1800" dirty="0"/>
          </a:p>
        </p:txBody>
      </p:sp>
      <p:sp>
        <p:nvSpPr>
          <p:cNvPr id="12" name="Text 10"/>
          <p:cNvSpPr/>
          <p:nvPr/>
        </p:nvSpPr>
        <p:spPr>
          <a:xfrm>
            <a:off x="1234440" y="3794760"/>
            <a:ext cx="9875520" cy="822960"/>
          </a:xfrm>
          <a:prstGeom prst="rect">
            <a:avLst/>
          </a:prstGeom>
          <a:noFill/>
          <a:ln/>
        </p:spPr>
        <p:txBody>
          <a:bodyPr wrap="square" rtlCol="0" anchor="ctr"/>
          <a:lstStyle/>
          <a:p>
            <a:pPr indent="0" marL="0">
              <a:lnSpc>
                <a:spcPct val="120000"/>
              </a:lnSpc>
              <a:buNone/>
            </a:pPr>
            <a:r>
              <a:rPr lang="en-US" sz="1400" dirty="0">
                <a:solidFill>
                  <a:srgbClr val="F4F1EA"/>
                </a:solidFill>
                <a:latin typeface="Calibri" pitchFamily="34" charset="0"/>
                <a:ea typeface="Calibri" pitchFamily="34" charset="-122"/>
                <a:cs typeface="Calibri" pitchFamily="34" charset="-120"/>
              </a:rPr>
              <a:t>The message stresses urgency: "Please process before end of day to avoid a late fee."</a:t>
            </a:r>
            <a:endParaRPr lang="en-US" sz="1400" dirty="0"/>
          </a:p>
        </p:txBody>
      </p:sp>
      <p:sp>
        <p:nvSpPr>
          <p:cNvPr id="13" name="Shape 11"/>
          <p:cNvSpPr/>
          <p:nvPr/>
        </p:nvSpPr>
        <p:spPr>
          <a:xfrm>
            <a:off x="548640" y="4892040"/>
            <a:ext cx="502920" cy="502920"/>
          </a:xfrm>
          <a:prstGeom prst="ellipse">
            <a:avLst/>
          </a:prstGeom>
          <a:solidFill>
            <a:srgbClr val="E4572E"/>
          </a:solidFill>
          <a:ln/>
        </p:spPr>
      </p:sp>
      <p:sp>
        <p:nvSpPr>
          <p:cNvPr id="14" name="Text 12"/>
          <p:cNvSpPr/>
          <p:nvPr/>
        </p:nvSpPr>
        <p:spPr>
          <a:xfrm>
            <a:off x="548640" y="4892040"/>
            <a:ext cx="502920" cy="502920"/>
          </a:xfrm>
          <a:prstGeom prst="rect">
            <a:avLst/>
          </a:prstGeom>
          <a:noFill/>
          <a:ln/>
        </p:spPr>
        <p:txBody>
          <a:bodyPr wrap="square" rtlCol="0" anchor="ctr"/>
          <a:lstStyle/>
          <a:p>
            <a:pPr algn="ctr" indent="0" marL="0">
              <a:buNone/>
            </a:pPr>
            <a:r>
              <a:rPr lang="en-US" sz="1800" b="1" dirty="0">
                <a:solidFill>
                  <a:srgbClr val="F4F1EA"/>
                </a:solidFill>
              </a:rPr>
              <a:t>4</a:t>
            </a:r>
            <a:endParaRPr lang="en-US" sz="1800" dirty="0"/>
          </a:p>
        </p:txBody>
      </p:sp>
      <p:sp>
        <p:nvSpPr>
          <p:cNvPr id="15" name="Text 13"/>
          <p:cNvSpPr/>
          <p:nvPr/>
        </p:nvSpPr>
        <p:spPr>
          <a:xfrm>
            <a:off x="1234440" y="4846320"/>
            <a:ext cx="9875520" cy="822960"/>
          </a:xfrm>
          <a:prstGeom prst="rect">
            <a:avLst/>
          </a:prstGeom>
          <a:noFill/>
          <a:ln/>
        </p:spPr>
        <p:txBody>
          <a:bodyPr wrap="square" rtlCol="0" anchor="ctr"/>
          <a:lstStyle/>
          <a:p>
            <a:pPr indent="0" marL="0">
              <a:lnSpc>
                <a:spcPct val="120000"/>
              </a:lnSpc>
              <a:buNone/>
            </a:pPr>
            <a:r>
              <a:rPr lang="en-US" sz="1400" dirty="0">
                <a:solidFill>
                  <a:srgbClr val="F4F1EA"/>
                </a:solidFill>
                <a:latin typeface="Calibri" pitchFamily="34" charset="0"/>
                <a:ea typeface="Calibri" pitchFamily="34" charset="-122"/>
                <a:cs typeface="Calibri" pitchFamily="34" charset="-120"/>
              </a:rPr>
              <a:t>Without verifying by phone through a known contact, the employee updates the payment details — and the money goes to the attacker's account.</a:t>
            </a:r>
            <a:endParaRPr lang="en-US" sz="1400" dirty="0"/>
          </a:p>
        </p:txBody>
      </p:sp>
      <p:sp>
        <p:nvSpPr>
          <p:cNvPr id="16" name="Text 14"/>
          <p:cNvSpPr/>
          <p:nvPr/>
        </p:nvSpPr>
        <p:spPr>
          <a:xfrm>
            <a:off x="548640" y="5989320"/>
            <a:ext cx="10607040" cy="548640"/>
          </a:xfrm>
          <a:prstGeom prst="rect">
            <a:avLst/>
          </a:prstGeom>
          <a:noFill/>
          <a:ln/>
        </p:spPr>
        <p:txBody>
          <a:bodyPr wrap="square" rtlCol="0" anchor="ctr"/>
          <a:lstStyle/>
          <a:p>
            <a:pPr indent="0" marL="0">
              <a:buNone/>
            </a:pPr>
            <a:r>
              <a:rPr lang="en-US" sz="1300" i="1" dirty="0">
                <a:solidFill>
                  <a:srgbClr val="C7CAE4"/>
                </a:solidFill>
              </a:rPr>
              <a:t>The fix: any change to payment details should be verified through a separate, trusted channel — never just by replying to the email.</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822960"/>
          </a:xfrm>
          <a:prstGeom prst="rect">
            <a:avLst/>
          </a:prstGeom>
          <a:noFill/>
          <a:ln/>
        </p:spPr>
        <p:txBody>
          <a:bodyPr wrap="square" rtlCol="0" anchor="ctr"/>
          <a:lstStyle/>
          <a:p>
            <a:pPr algn="l" indent="0" marL="0">
              <a:buNone/>
            </a:pPr>
            <a:r>
              <a:rPr lang="en-US" sz="3000" b="1" dirty="0">
                <a:solidFill>
                  <a:srgbClr val="1B1F3B"/>
                </a:solidFill>
                <a:latin typeface="Georgia" pitchFamily="34" charset="0"/>
                <a:ea typeface="Georgia" pitchFamily="34" charset="-122"/>
                <a:cs typeface="Georgia" pitchFamily="34" charset="-120"/>
              </a:rPr>
              <a:t>Best Practices to Stay Safe</a:t>
            </a:r>
            <a:endParaRPr lang="en-US" sz="3000" dirty="0"/>
          </a:p>
        </p:txBody>
      </p:sp>
      <p:sp>
        <p:nvSpPr>
          <p:cNvPr id="3" name="Shape 1"/>
          <p:cNvSpPr/>
          <p:nvPr/>
        </p:nvSpPr>
        <p:spPr>
          <a:xfrm>
            <a:off x="548640" y="1554480"/>
            <a:ext cx="3520440" cy="2103120"/>
          </a:xfrm>
          <a:prstGeom prst="rect">
            <a:avLst/>
          </a:prstGeom>
          <a:solidFill>
            <a:srgbClr val="F2F3F7"/>
          </a:solidFill>
          <a:ln/>
        </p:spPr>
      </p:sp>
      <p:sp>
        <p:nvSpPr>
          <p:cNvPr id="4" name="Shape 2"/>
          <p:cNvSpPr/>
          <p:nvPr/>
        </p:nvSpPr>
        <p:spPr>
          <a:xfrm>
            <a:off x="1988820" y="1783080"/>
            <a:ext cx="640080" cy="640080"/>
          </a:xfrm>
          <a:prstGeom prst="ellipse">
            <a:avLst/>
          </a:prstGeom>
          <a:solidFill>
            <a:srgbClr val="2E9E5B"/>
          </a:solidFill>
          <a:ln/>
        </p:spPr>
      </p:sp>
      <p:pic>
        <p:nvPicPr>
          <p:cNvPr id="5" name="Image 0" descr="icon_inspect.png">    </p:cNvPr>
          <p:cNvPicPr>
            <a:picLocks noChangeAspect="1"/>
          </p:cNvPicPr>
          <p:nvPr/>
        </p:nvPicPr>
        <p:blipFill>
          <a:blip r:embed="rId1"/>
          <a:stretch>
            <a:fillRect/>
          </a:stretch>
        </p:blipFill>
        <p:spPr>
          <a:xfrm>
            <a:off x="2116836" y="1911096"/>
            <a:ext cx="384048" cy="384048"/>
          </a:xfrm>
          <a:prstGeom prst="rect">
            <a:avLst/>
          </a:prstGeom>
        </p:spPr>
      </p:pic>
      <p:sp>
        <p:nvSpPr>
          <p:cNvPr id="6" name="Text 3"/>
          <p:cNvSpPr/>
          <p:nvPr/>
        </p:nvSpPr>
        <p:spPr>
          <a:xfrm>
            <a:off x="731520" y="2560320"/>
            <a:ext cx="3154680" cy="1005840"/>
          </a:xfrm>
          <a:prstGeom prst="rect">
            <a:avLst/>
          </a:prstGeom>
          <a:noFill/>
          <a:ln/>
        </p:spPr>
        <p:txBody>
          <a:bodyPr wrap="square" rtlCol="0" anchor="ctr"/>
          <a:lstStyle/>
          <a:p>
            <a:pPr algn="ctr" indent="0" marL="0">
              <a:lnSpc>
                <a:spcPct val="120000"/>
              </a:lnSpc>
              <a:buNone/>
            </a:pPr>
            <a:r>
              <a:rPr lang="en-US" sz="1250" dirty="0">
                <a:solidFill>
                  <a:srgbClr val="1B1F3B"/>
                </a:solidFill>
                <a:latin typeface="Calibri" pitchFamily="34" charset="0"/>
                <a:ea typeface="Calibri" pitchFamily="34" charset="-122"/>
                <a:cs typeface="Calibri" pitchFamily="34" charset="-120"/>
              </a:rPr>
              <a:t>Pause before clicking — verify sender and links independently</a:t>
            </a:r>
            <a:endParaRPr lang="en-US" sz="1250" dirty="0"/>
          </a:p>
        </p:txBody>
      </p:sp>
      <p:sp>
        <p:nvSpPr>
          <p:cNvPr id="7" name="Shape 4"/>
          <p:cNvSpPr/>
          <p:nvPr/>
        </p:nvSpPr>
        <p:spPr>
          <a:xfrm>
            <a:off x="4297680" y="1554480"/>
            <a:ext cx="3520440" cy="2103120"/>
          </a:xfrm>
          <a:prstGeom prst="rect">
            <a:avLst/>
          </a:prstGeom>
          <a:solidFill>
            <a:srgbClr val="F2F3F7"/>
          </a:solidFill>
          <a:ln/>
        </p:spPr>
      </p:sp>
      <p:sp>
        <p:nvSpPr>
          <p:cNvPr id="8" name="Shape 5"/>
          <p:cNvSpPr/>
          <p:nvPr/>
        </p:nvSpPr>
        <p:spPr>
          <a:xfrm>
            <a:off x="5737860" y="1783080"/>
            <a:ext cx="640080" cy="640080"/>
          </a:xfrm>
          <a:prstGeom prst="ellipse">
            <a:avLst/>
          </a:prstGeom>
          <a:solidFill>
            <a:srgbClr val="2E9E5B"/>
          </a:solidFill>
          <a:ln/>
        </p:spPr>
      </p:sp>
      <p:pic>
        <p:nvPicPr>
          <p:cNvPr id="9" name="Image 1" descr="icon_lock.png">    </p:cNvPr>
          <p:cNvPicPr>
            <a:picLocks noChangeAspect="1"/>
          </p:cNvPicPr>
          <p:nvPr/>
        </p:nvPicPr>
        <p:blipFill>
          <a:blip r:embed="rId2"/>
          <a:stretch>
            <a:fillRect/>
          </a:stretch>
        </p:blipFill>
        <p:spPr>
          <a:xfrm>
            <a:off x="5865876" y="1911096"/>
            <a:ext cx="384048" cy="384048"/>
          </a:xfrm>
          <a:prstGeom prst="rect">
            <a:avLst/>
          </a:prstGeom>
        </p:spPr>
      </p:pic>
      <p:sp>
        <p:nvSpPr>
          <p:cNvPr id="10" name="Text 6"/>
          <p:cNvSpPr/>
          <p:nvPr/>
        </p:nvSpPr>
        <p:spPr>
          <a:xfrm>
            <a:off x="4480560" y="2560320"/>
            <a:ext cx="3154680" cy="1005840"/>
          </a:xfrm>
          <a:prstGeom prst="rect">
            <a:avLst/>
          </a:prstGeom>
          <a:noFill/>
          <a:ln/>
        </p:spPr>
        <p:txBody>
          <a:bodyPr wrap="square" rtlCol="0" anchor="ctr"/>
          <a:lstStyle/>
          <a:p>
            <a:pPr algn="ctr" indent="0" marL="0">
              <a:lnSpc>
                <a:spcPct val="120000"/>
              </a:lnSpc>
              <a:buNone/>
            </a:pPr>
            <a:r>
              <a:rPr lang="en-US" sz="1250" dirty="0">
                <a:solidFill>
                  <a:srgbClr val="1B1F3B"/>
                </a:solidFill>
                <a:latin typeface="Calibri" pitchFamily="34" charset="0"/>
                <a:ea typeface="Calibri" pitchFamily="34" charset="-122"/>
                <a:cs typeface="Calibri" pitchFamily="34" charset="-120"/>
              </a:rPr>
              <a:t>Enable multi-factor authentication on every important account</a:t>
            </a:r>
            <a:endParaRPr lang="en-US" sz="1250" dirty="0"/>
          </a:p>
        </p:txBody>
      </p:sp>
      <p:sp>
        <p:nvSpPr>
          <p:cNvPr id="11" name="Shape 7"/>
          <p:cNvSpPr/>
          <p:nvPr/>
        </p:nvSpPr>
        <p:spPr>
          <a:xfrm>
            <a:off x="8046720" y="1554480"/>
            <a:ext cx="3520440" cy="2103120"/>
          </a:xfrm>
          <a:prstGeom prst="rect">
            <a:avLst/>
          </a:prstGeom>
          <a:solidFill>
            <a:srgbClr val="F2F3F7"/>
          </a:solidFill>
          <a:ln/>
        </p:spPr>
      </p:sp>
      <p:sp>
        <p:nvSpPr>
          <p:cNvPr id="12" name="Shape 8"/>
          <p:cNvSpPr/>
          <p:nvPr/>
        </p:nvSpPr>
        <p:spPr>
          <a:xfrm>
            <a:off x="9486900" y="1783080"/>
            <a:ext cx="640080" cy="640080"/>
          </a:xfrm>
          <a:prstGeom prst="ellipse">
            <a:avLst/>
          </a:prstGeom>
          <a:solidFill>
            <a:srgbClr val="2E9E5B"/>
          </a:solidFill>
          <a:ln/>
        </p:spPr>
      </p:sp>
      <p:pic>
        <p:nvPicPr>
          <p:cNvPr id="13" name="Image 2" descr="icon_shield.png">    </p:cNvPr>
          <p:cNvPicPr>
            <a:picLocks noChangeAspect="1"/>
          </p:cNvPicPr>
          <p:nvPr/>
        </p:nvPicPr>
        <p:blipFill>
          <a:blip r:embed="rId3"/>
          <a:stretch>
            <a:fillRect/>
          </a:stretch>
        </p:blipFill>
        <p:spPr>
          <a:xfrm>
            <a:off x="9614916" y="1911096"/>
            <a:ext cx="384048" cy="384048"/>
          </a:xfrm>
          <a:prstGeom prst="rect">
            <a:avLst/>
          </a:prstGeom>
        </p:spPr>
      </p:pic>
      <p:sp>
        <p:nvSpPr>
          <p:cNvPr id="14" name="Text 9"/>
          <p:cNvSpPr/>
          <p:nvPr/>
        </p:nvSpPr>
        <p:spPr>
          <a:xfrm>
            <a:off x="8229600" y="2560320"/>
            <a:ext cx="3154680" cy="1005840"/>
          </a:xfrm>
          <a:prstGeom prst="rect">
            <a:avLst/>
          </a:prstGeom>
          <a:noFill/>
          <a:ln/>
        </p:spPr>
        <p:txBody>
          <a:bodyPr wrap="square" rtlCol="0" anchor="ctr"/>
          <a:lstStyle/>
          <a:p>
            <a:pPr algn="ctr" indent="0" marL="0">
              <a:lnSpc>
                <a:spcPct val="120000"/>
              </a:lnSpc>
              <a:buNone/>
            </a:pPr>
            <a:r>
              <a:rPr lang="en-US" sz="1250" dirty="0">
                <a:solidFill>
                  <a:srgbClr val="1B1F3B"/>
                </a:solidFill>
                <a:latin typeface="Calibri" pitchFamily="34" charset="0"/>
                <a:ea typeface="Calibri" pitchFamily="34" charset="-122"/>
                <a:cs typeface="Calibri" pitchFamily="34" charset="-120"/>
              </a:rPr>
              <a:t>Keep software and browsers updated to patch known exploits</a:t>
            </a:r>
            <a:endParaRPr lang="en-US" sz="1250" dirty="0"/>
          </a:p>
        </p:txBody>
      </p:sp>
      <p:sp>
        <p:nvSpPr>
          <p:cNvPr id="15" name="Shape 10"/>
          <p:cNvSpPr/>
          <p:nvPr/>
        </p:nvSpPr>
        <p:spPr>
          <a:xfrm>
            <a:off x="548640" y="3931920"/>
            <a:ext cx="3520440" cy="2103120"/>
          </a:xfrm>
          <a:prstGeom prst="rect">
            <a:avLst/>
          </a:prstGeom>
          <a:solidFill>
            <a:srgbClr val="F2F3F7"/>
          </a:solidFill>
          <a:ln/>
        </p:spPr>
      </p:sp>
      <p:sp>
        <p:nvSpPr>
          <p:cNvPr id="16" name="Shape 11"/>
          <p:cNvSpPr/>
          <p:nvPr/>
        </p:nvSpPr>
        <p:spPr>
          <a:xfrm>
            <a:off x="1988820" y="4160520"/>
            <a:ext cx="640080" cy="640080"/>
          </a:xfrm>
          <a:prstGeom prst="ellipse">
            <a:avLst/>
          </a:prstGeom>
          <a:solidFill>
            <a:srgbClr val="2E9E5B"/>
          </a:solidFill>
          <a:ln/>
        </p:spPr>
      </p:sp>
      <p:pic>
        <p:nvPicPr>
          <p:cNvPr id="17" name="Image 3" descr="icon_check.png">    </p:cNvPr>
          <p:cNvPicPr>
            <a:picLocks noChangeAspect="1"/>
          </p:cNvPicPr>
          <p:nvPr/>
        </p:nvPicPr>
        <p:blipFill>
          <a:blip r:embed="rId4"/>
          <a:stretch>
            <a:fillRect/>
          </a:stretch>
        </p:blipFill>
        <p:spPr>
          <a:xfrm>
            <a:off x="2116836" y="4288536"/>
            <a:ext cx="384048" cy="384048"/>
          </a:xfrm>
          <a:prstGeom prst="rect">
            <a:avLst/>
          </a:prstGeom>
        </p:spPr>
      </p:pic>
      <p:sp>
        <p:nvSpPr>
          <p:cNvPr id="18" name="Text 12"/>
          <p:cNvSpPr/>
          <p:nvPr/>
        </p:nvSpPr>
        <p:spPr>
          <a:xfrm>
            <a:off x="731520" y="4937760"/>
            <a:ext cx="3154680" cy="1005840"/>
          </a:xfrm>
          <a:prstGeom prst="rect">
            <a:avLst/>
          </a:prstGeom>
          <a:noFill/>
          <a:ln/>
        </p:spPr>
        <p:txBody>
          <a:bodyPr wrap="square" rtlCol="0" anchor="ctr"/>
          <a:lstStyle/>
          <a:p>
            <a:pPr algn="ctr" indent="0" marL="0">
              <a:lnSpc>
                <a:spcPct val="120000"/>
              </a:lnSpc>
              <a:buNone/>
            </a:pPr>
            <a:r>
              <a:rPr lang="en-US" sz="1250" dirty="0">
                <a:solidFill>
                  <a:srgbClr val="1B1F3B"/>
                </a:solidFill>
                <a:latin typeface="Calibri" pitchFamily="34" charset="0"/>
                <a:ea typeface="Calibri" pitchFamily="34" charset="-122"/>
                <a:cs typeface="Calibri" pitchFamily="34" charset="-120"/>
              </a:rPr>
              <a:t>Verify unusual requests through a separate channel (call, don't reply)</a:t>
            </a:r>
            <a:endParaRPr lang="en-US" sz="1250" dirty="0"/>
          </a:p>
        </p:txBody>
      </p:sp>
      <p:sp>
        <p:nvSpPr>
          <p:cNvPr id="19" name="Shape 13"/>
          <p:cNvSpPr/>
          <p:nvPr/>
        </p:nvSpPr>
        <p:spPr>
          <a:xfrm>
            <a:off x="4297680" y="3931920"/>
            <a:ext cx="3520440" cy="2103120"/>
          </a:xfrm>
          <a:prstGeom prst="rect">
            <a:avLst/>
          </a:prstGeom>
          <a:solidFill>
            <a:srgbClr val="F2F3F7"/>
          </a:solidFill>
          <a:ln/>
        </p:spPr>
      </p:sp>
      <p:sp>
        <p:nvSpPr>
          <p:cNvPr id="20" name="Shape 14"/>
          <p:cNvSpPr/>
          <p:nvPr/>
        </p:nvSpPr>
        <p:spPr>
          <a:xfrm>
            <a:off x="5737860" y="4160520"/>
            <a:ext cx="640080" cy="640080"/>
          </a:xfrm>
          <a:prstGeom prst="ellipse">
            <a:avLst/>
          </a:prstGeom>
          <a:solidFill>
            <a:srgbClr val="2E9E5B"/>
          </a:solidFill>
          <a:ln/>
        </p:spPr>
      </p:sp>
      <p:pic>
        <p:nvPicPr>
          <p:cNvPr id="21" name="Image 4" descr="icon_warning.png">    </p:cNvPr>
          <p:cNvPicPr>
            <a:picLocks noChangeAspect="1"/>
          </p:cNvPicPr>
          <p:nvPr/>
        </p:nvPicPr>
        <p:blipFill>
          <a:blip r:embed="rId5"/>
          <a:stretch>
            <a:fillRect/>
          </a:stretch>
        </p:blipFill>
        <p:spPr>
          <a:xfrm>
            <a:off x="5865876" y="4288536"/>
            <a:ext cx="384048" cy="384048"/>
          </a:xfrm>
          <a:prstGeom prst="rect">
            <a:avLst/>
          </a:prstGeom>
        </p:spPr>
      </p:pic>
      <p:sp>
        <p:nvSpPr>
          <p:cNvPr id="22" name="Text 15"/>
          <p:cNvSpPr/>
          <p:nvPr/>
        </p:nvSpPr>
        <p:spPr>
          <a:xfrm>
            <a:off x="4480560" y="4937760"/>
            <a:ext cx="3154680" cy="1005840"/>
          </a:xfrm>
          <a:prstGeom prst="rect">
            <a:avLst/>
          </a:prstGeom>
          <a:noFill/>
          <a:ln/>
        </p:spPr>
        <p:txBody>
          <a:bodyPr wrap="square" rtlCol="0" anchor="ctr"/>
          <a:lstStyle/>
          <a:p>
            <a:pPr algn="ctr" indent="0" marL="0">
              <a:lnSpc>
                <a:spcPct val="120000"/>
              </a:lnSpc>
              <a:buNone/>
            </a:pPr>
            <a:r>
              <a:rPr lang="en-US" sz="1250" dirty="0">
                <a:solidFill>
                  <a:srgbClr val="1B1F3B"/>
                </a:solidFill>
                <a:latin typeface="Calibri" pitchFamily="34" charset="0"/>
                <a:ea typeface="Calibri" pitchFamily="34" charset="-122"/>
                <a:cs typeface="Calibri" pitchFamily="34" charset="-120"/>
              </a:rPr>
              <a:t>Report suspicious emails to your IT/security team immediately</a:t>
            </a:r>
            <a:endParaRPr lang="en-US" sz="1250" dirty="0"/>
          </a:p>
        </p:txBody>
      </p:sp>
      <p:sp>
        <p:nvSpPr>
          <p:cNvPr id="23" name="Shape 16"/>
          <p:cNvSpPr/>
          <p:nvPr/>
        </p:nvSpPr>
        <p:spPr>
          <a:xfrm>
            <a:off x="8046720" y="3931920"/>
            <a:ext cx="3520440" cy="2103120"/>
          </a:xfrm>
          <a:prstGeom prst="rect">
            <a:avLst/>
          </a:prstGeom>
          <a:solidFill>
            <a:srgbClr val="F2F3F7"/>
          </a:solidFill>
          <a:ln/>
        </p:spPr>
      </p:sp>
      <p:sp>
        <p:nvSpPr>
          <p:cNvPr id="24" name="Shape 17"/>
          <p:cNvSpPr/>
          <p:nvPr/>
        </p:nvSpPr>
        <p:spPr>
          <a:xfrm>
            <a:off x="9486900" y="4160520"/>
            <a:ext cx="640080" cy="640080"/>
          </a:xfrm>
          <a:prstGeom prst="ellipse">
            <a:avLst/>
          </a:prstGeom>
          <a:solidFill>
            <a:srgbClr val="2E9E5B"/>
          </a:solidFill>
          <a:ln/>
        </p:spPr>
      </p:sp>
      <p:pic>
        <p:nvPicPr>
          <p:cNvPr id="25" name="Image 5" descr="icon_socialeng.png">    </p:cNvPr>
          <p:cNvPicPr>
            <a:picLocks noChangeAspect="1"/>
          </p:cNvPicPr>
          <p:nvPr/>
        </p:nvPicPr>
        <p:blipFill>
          <a:blip r:embed="rId6"/>
          <a:stretch>
            <a:fillRect/>
          </a:stretch>
        </p:blipFill>
        <p:spPr>
          <a:xfrm>
            <a:off x="9614916" y="4288536"/>
            <a:ext cx="384048" cy="384048"/>
          </a:xfrm>
          <a:prstGeom prst="rect">
            <a:avLst/>
          </a:prstGeom>
        </p:spPr>
      </p:pic>
      <p:sp>
        <p:nvSpPr>
          <p:cNvPr id="26" name="Text 18"/>
          <p:cNvSpPr/>
          <p:nvPr/>
        </p:nvSpPr>
        <p:spPr>
          <a:xfrm>
            <a:off x="8229600" y="4937760"/>
            <a:ext cx="3154680" cy="1005840"/>
          </a:xfrm>
          <a:prstGeom prst="rect">
            <a:avLst/>
          </a:prstGeom>
          <a:noFill/>
          <a:ln/>
        </p:spPr>
        <p:txBody>
          <a:bodyPr wrap="square" rtlCol="0" anchor="ctr"/>
          <a:lstStyle/>
          <a:p>
            <a:pPr algn="ctr" indent="0" marL="0">
              <a:lnSpc>
                <a:spcPct val="120000"/>
              </a:lnSpc>
              <a:buNone/>
            </a:pPr>
            <a:r>
              <a:rPr lang="en-US" sz="1250" dirty="0">
                <a:solidFill>
                  <a:srgbClr val="1B1F3B"/>
                </a:solidFill>
                <a:latin typeface="Calibri" pitchFamily="34" charset="0"/>
                <a:ea typeface="Calibri" pitchFamily="34" charset="-122"/>
                <a:cs typeface="Calibri" pitchFamily="34" charset="-120"/>
              </a:rPr>
              <a:t>Never share passwords or one-time codes with anyone, ever</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1F3B"/>
        </a:solidFill>
      </p:bgPr>
    </p:bg>
    <p:spTree>
      <p:nvGrpSpPr>
        <p:cNvPr id="1" name=""/>
        <p:cNvGrpSpPr/>
        <p:nvPr/>
      </p:nvGrpSpPr>
      <p:grpSpPr>
        <a:xfrm>
          <a:off x="0" y="0"/>
          <a:ext cx="0" cy="0"/>
          <a:chOff x="0" y="0"/>
          <a:chExt cx="0" cy="0"/>
        </a:xfrm>
      </p:grpSpPr>
      <p:pic>
        <p:nvPicPr>
          <p:cNvPr id="2" name="Image 0" descr="icon_quiz.png">    </p:cNvPr>
          <p:cNvPicPr>
            <a:picLocks noChangeAspect="1"/>
          </p:cNvPicPr>
          <p:nvPr/>
        </p:nvPicPr>
        <p:blipFill>
          <a:blip r:embed="rId1"/>
          <a:stretch>
            <a:fillRect/>
          </a:stretch>
        </p:blipFill>
        <p:spPr>
          <a:xfrm>
            <a:off x="548640" y="502920"/>
            <a:ext cx="640080" cy="640080"/>
          </a:xfrm>
          <a:prstGeom prst="rect">
            <a:avLst/>
          </a:prstGeom>
        </p:spPr>
      </p:pic>
      <p:sp>
        <p:nvSpPr>
          <p:cNvPr id="3" name="Text 0"/>
          <p:cNvSpPr/>
          <p:nvPr/>
        </p:nvSpPr>
        <p:spPr>
          <a:xfrm>
            <a:off x="1325880" y="548640"/>
            <a:ext cx="7315200" cy="548640"/>
          </a:xfrm>
          <a:prstGeom prst="rect">
            <a:avLst/>
          </a:prstGeom>
          <a:noFill/>
          <a:ln/>
        </p:spPr>
        <p:txBody>
          <a:bodyPr wrap="square" rtlCol="0" anchor="ctr"/>
          <a:lstStyle/>
          <a:p>
            <a:pPr indent="0" marL="0">
              <a:buNone/>
            </a:pPr>
            <a:r>
              <a:rPr lang="en-US" sz="2400" b="1" dirty="0">
                <a:solidFill>
                  <a:srgbClr val="F4F1EA"/>
                </a:solidFill>
                <a:latin typeface="Georgia" pitchFamily="34" charset="0"/>
                <a:ea typeface="Georgia" pitchFamily="34" charset="-122"/>
                <a:cs typeface="Georgia" pitchFamily="34" charset="-120"/>
              </a:rPr>
              <a:t>Quick Check — Question 1</a:t>
            </a:r>
            <a:endParaRPr lang="en-US" sz="2400" dirty="0"/>
          </a:p>
        </p:txBody>
      </p:sp>
      <p:sp>
        <p:nvSpPr>
          <p:cNvPr id="4" name="Text 1"/>
          <p:cNvSpPr/>
          <p:nvPr/>
        </p:nvSpPr>
        <p:spPr>
          <a:xfrm>
            <a:off x="548640" y="1554480"/>
            <a:ext cx="10789920" cy="1188720"/>
          </a:xfrm>
          <a:prstGeom prst="rect">
            <a:avLst/>
          </a:prstGeom>
          <a:noFill/>
          <a:ln/>
        </p:spPr>
        <p:txBody>
          <a:bodyPr wrap="square" rtlCol="0" anchor="ctr"/>
          <a:lstStyle/>
          <a:p>
            <a:pPr indent="0" marL="0">
              <a:lnSpc>
                <a:spcPct val="130000"/>
              </a:lnSpc>
              <a:buNone/>
            </a:pPr>
            <a:r>
              <a:rPr lang="en-US" sz="1700" dirty="0">
                <a:solidFill>
                  <a:srgbClr val="F4F1EA"/>
                </a:solidFill>
                <a:latin typeface="Calibri" pitchFamily="34" charset="0"/>
                <a:ea typeface="Calibri" pitchFamily="34" charset="-122"/>
                <a:cs typeface="Calibri" pitchFamily="34" charset="-120"/>
              </a:rPr>
              <a:t>You get an email from "support@paypa1-secure.com" saying your account is suspended and asking you to log in via a link right away. What should you do?</a:t>
            </a:r>
            <a:endParaRPr lang="en-US" sz="1700" dirty="0"/>
          </a:p>
        </p:txBody>
      </p:sp>
      <p:sp>
        <p:nvSpPr>
          <p:cNvPr id="5" name="Shape 2"/>
          <p:cNvSpPr/>
          <p:nvPr/>
        </p:nvSpPr>
        <p:spPr>
          <a:xfrm>
            <a:off x="548640" y="3108960"/>
            <a:ext cx="10789920" cy="594360"/>
          </a:xfrm>
          <a:prstGeom prst="rect">
            <a:avLst/>
          </a:prstGeom>
          <a:solidFill>
            <a:srgbClr val="2A2F55"/>
          </a:solidFill>
          <a:ln/>
        </p:spPr>
      </p:sp>
      <p:sp>
        <p:nvSpPr>
          <p:cNvPr id="6" name="Text 3"/>
          <p:cNvSpPr/>
          <p:nvPr/>
        </p:nvSpPr>
        <p:spPr>
          <a:xfrm>
            <a:off x="822960" y="3182112"/>
            <a:ext cx="10241280" cy="457200"/>
          </a:xfrm>
          <a:prstGeom prst="rect">
            <a:avLst/>
          </a:prstGeom>
          <a:noFill/>
          <a:ln/>
        </p:spPr>
        <p:txBody>
          <a:bodyPr wrap="square" rtlCol="0" anchor="ctr"/>
          <a:lstStyle/>
          <a:p>
            <a:pPr indent="0" marL="0">
              <a:buNone/>
            </a:pPr>
            <a:r>
              <a:rPr lang="en-US" sz="1400" dirty="0">
                <a:solidFill>
                  <a:srgbClr val="F4F1EA"/>
                </a:solidFill>
                <a:latin typeface="Calibri" pitchFamily="34" charset="0"/>
                <a:ea typeface="Calibri" pitchFamily="34" charset="-122"/>
                <a:cs typeface="Calibri" pitchFamily="34" charset="-120"/>
              </a:rPr>
              <a:t>A) Click the link right away so the account isn't suspended</a:t>
            </a:r>
            <a:endParaRPr lang="en-US" sz="1400" dirty="0"/>
          </a:p>
        </p:txBody>
      </p:sp>
      <p:sp>
        <p:nvSpPr>
          <p:cNvPr id="7" name="Shape 4"/>
          <p:cNvSpPr/>
          <p:nvPr/>
        </p:nvSpPr>
        <p:spPr>
          <a:xfrm>
            <a:off x="548640" y="3886200"/>
            <a:ext cx="10789920" cy="594360"/>
          </a:xfrm>
          <a:prstGeom prst="rect">
            <a:avLst/>
          </a:prstGeom>
          <a:solidFill>
            <a:srgbClr val="2A2F55"/>
          </a:solidFill>
          <a:ln/>
        </p:spPr>
      </p:sp>
      <p:sp>
        <p:nvSpPr>
          <p:cNvPr id="8" name="Text 5"/>
          <p:cNvSpPr/>
          <p:nvPr/>
        </p:nvSpPr>
        <p:spPr>
          <a:xfrm>
            <a:off x="822960" y="3959352"/>
            <a:ext cx="10241280" cy="457200"/>
          </a:xfrm>
          <a:prstGeom prst="rect">
            <a:avLst/>
          </a:prstGeom>
          <a:noFill/>
          <a:ln/>
        </p:spPr>
        <p:txBody>
          <a:bodyPr wrap="square" rtlCol="0" anchor="ctr"/>
          <a:lstStyle/>
          <a:p>
            <a:pPr indent="0" marL="0">
              <a:buNone/>
            </a:pPr>
            <a:r>
              <a:rPr lang="en-US" sz="1400" dirty="0">
                <a:solidFill>
                  <a:srgbClr val="F4F1EA"/>
                </a:solidFill>
                <a:latin typeface="Calibri" pitchFamily="34" charset="0"/>
                <a:ea typeface="Calibri" pitchFamily="34" charset="-122"/>
                <a:cs typeface="Calibri" pitchFamily="34" charset="-120"/>
              </a:rPr>
              <a:t>B) Reply to the email asking if it's legitimate</a:t>
            </a:r>
            <a:endParaRPr lang="en-US" sz="1400" dirty="0"/>
          </a:p>
        </p:txBody>
      </p:sp>
      <p:sp>
        <p:nvSpPr>
          <p:cNvPr id="9" name="Shape 6"/>
          <p:cNvSpPr/>
          <p:nvPr/>
        </p:nvSpPr>
        <p:spPr>
          <a:xfrm>
            <a:off x="548640" y="4663440"/>
            <a:ext cx="10789920" cy="594360"/>
          </a:xfrm>
          <a:prstGeom prst="rect">
            <a:avLst/>
          </a:prstGeom>
          <a:solidFill>
            <a:srgbClr val="2A2F55"/>
          </a:solidFill>
          <a:ln/>
        </p:spPr>
      </p:sp>
      <p:sp>
        <p:nvSpPr>
          <p:cNvPr id="10" name="Text 7"/>
          <p:cNvSpPr/>
          <p:nvPr/>
        </p:nvSpPr>
        <p:spPr>
          <a:xfrm>
            <a:off x="822960" y="4736592"/>
            <a:ext cx="10241280" cy="457200"/>
          </a:xfrm>
          <a:prstGeom prst="rect">
            <a:avLst/>
          </a:prstGeom>
          <a:noFill/>
          <a:ln/>
        </p:spPr>
        <p:txBody>
          <a:bodyPr wrap="square" rtlCol="0" anchor="ctr"/>
          <a:lstStyle/>
          <a:p>
            <a:pPr indent="0" marL="0">
              <a:buNone/>
            </a:pPr>
            <a:r>
              <a:rPr lang="en-US" sz="1400" dirty="0">
                <a:solidFill>
                  <a:srgbClr val="F4F1EA"/>
                </a:solidFill>
                <a:latin typeface="Calibri" pitchFamily="34" charset="0"/>
                <a:ea typeface="Calibri" pitchFamily="34" charset="-122"/>
                <a:cs typeface="Calibri" pitchFamily="34" charset="-120"/>
              </a:rPr>
              <a:t>C) Ignore the email and log in by typing the real site's address directly</a:t>
            </a:r>
            <a:endParaRPr lang="en-US" sz="1400" dirty="0"/>
          </a:p>
        </p:txBody>
      </p:sp>
      <p:sp>
        <p:nvSpPr>
          <p:cNvPr id="11" name="Shape 8"/>
          <p:cNvSpPr/>
          <p:nvPr/>
        </p:nvSpPr>
        <p:spPr>
          <a:xfrm>
            <a:off x="548640" y="5440680"/>
            <a:ext cx="10789920" cy="594360"/>
          </a:xfrm>
          <a:prstGeom prst="rect">
            <a:avLst/>
          </a:prstGeom>
          <a:solidFill>
            <a:srgbClr val="2A2F55"/>
          </a:solidFill>
          <a:ln/>
        </p:spPr>
      </p:sp>
      <p:sp>
        <p:nvSpPr>
          <p:cNvPr id="12" name="Text 9"/>
          <p:cNvSpPr/>
          <p:nvPr/>
        </p:nvSpPr>
        <p:spPr>
          <a:xfrm>
            <a:off x="822960" y="5513832"/>
            <a:ext cx="10241280" cy="457200"/>
          </a:xfrm>
          <a:prstGeom prst="rect">
            <a:avLst/>
          </a:prstGeom>
          <a:noFill/>
          <a:ln/>
        </p:spPr>
        <p:txBody>
          <a:bodyPr wrap="square" rtlCol="0" anchor="ctr"/>
          <a:lstStyle/>
          <a:p>
            <a:pPr indent="0" marL="0">
              <a:buNone/>
            </a:pPr>
            <a:r>
              <a:rPr lang="en-US" sz="1400" dirty="0">
                <a:solidFill>
                  <a:srgbClr val="F4F1EA"/>
                </a:solidFill>
                <a:latin typeface="Calibri" pitchFamily="34" charset="0"/>
                <a:ea typeface="Calibri" pitchFamily="34" charset="-122"/>
                <a:cs typeface="Calibri" pitchFamily="34" charset="-120"/>
              </a:rPr>
              <a:t>D) Forward it to a friend to ask what they think</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icon_check.png">    </p:cNvPr>
          <p:cNvPicPr>
            <a:picLocks noChangeAspect="1"/>
          </p:cNvPicPr>
          <p:nvPr/>
        </p:nvPicPr>
        <p:blipFill>
          <a:blip r:embed="rId1"/>
          <a:stretch>
            <a:fillRect/>
          </a:stretch>
        </p:blipFill>
        <p:spPr>
          <a:xfrm>
            <a:off x="548640" y="502920"/>
            <a:ext cx="685800" cy="685800"/>
          </a:xfrm>
          <a:prstGeom prst="rect">
            <a:avLst/>
          </a:prstGeom>
        </p:spPr>
      </p:pic>
      <p:sp>
        <p:nvSpPr>
          <p:cNvPr id="3" name="Text 0"/>
          <p:cNvSpPr/>
          <p:nvPr/>
        </p:nvSpPr>
        <p:spPr>
          <a:xfrm>
            <a:off x="1371600" y="548640"/>
            <a:ext cx="7315200" cy="548640"/>
          </a:xfrm>
          <a:prstGeom prst="rect">
            <a:avLst/>
          </a:prstGeom>
          <a:noFill/>
          <a:ln/>
        </p:spPr>
        <p:txBody>
          <a:bodyPr wrap="square" rtlCol="0" anchor="ctr"/>
          <a:lstStyle/>
          <a:p>
            <a:pPr indent="0" marL="0">
              <a:buNone/>
            </a:pPr>
            <a:r>
              <a:rPr lang="en-US" sz="2600" b="1" dirty="0">
                <a:solidFill>
                  <a:srgbClr val="2E9E5B"/>
                </a:solidFill>
                <a:latin typeface="Georgia" pitchFamily="34" charset="0"/>
                <a:ea typeface="Georgia" pitchFamily="34" charset="-122"/>
                <a:cs typeface="Georgia" pitchFamily="34" charset="-120"/>
              </a:rPr>
              <a:t>Answer: C</a:t>
            </a:r>
            <a:endParaRPr lang="en-US" sz="2600" dirty="0"/>
          </a:p>
        </p:txBody>
      </p:sp>
      <p:sp>
        <p:nvSpPr>
          <p:cNvPr id="4" name="Shape 1"/>
          <p:cNvSpPr/>
          <p:nvPr/>
        </p:nvSpPr>
        <p:spPr>
          <a:xfrm>
            <a:off x="548640" y="1554480"/>
            <a:ext cx="11064240" cy="4389120"/>
          </a:xfrm>
          <a:prstGeom prst="rect">
            <a:avLst/>
          </a:prstGeom>
          <a:solidFill>
            <a:srgbClr val="F2F3F7"/>
          </a:solidFill>
          <a:ln/>
        </p:spPr>
      </p:sp>
      <p:sp>
        <p:nvSpPr>
          <p:cNvPr id="5" name="Text 2"/>
          <p:cNvSpPr/>
          <p:nvPr/>
        </p:nvSpPr>
        <p:spPr>
          <a:xfrm>
            <a:off x="914400" y="1828800"/>
            <a:ext cx="10332720" cy="731520"/>
          </a:xfrm>
          <a:prstGeom prst="rect">
            <a:avLst/>
          </a:prstGeom>
          <a:noFill/>
          <a:ln/>
        </p:spPr>
        <p:txBody>
          <a:bodyPr wrap="square" rtlCol="0" anchor="ctr"/>
          <a:lstStyle/>
          <a:p>
            <a:pPr indent="0" marL="0">
              <a:buNone/>
            </a:pPr>
            <a:r>
              <a:rPr lang="en-US" sz="1600" b="1" dirty="0">
                <a:solidFill>
                  <a:srgbClr val="1B1F3B"/>
                </a:solidFill>
                <a:latin typeface="Calibri" pitchFamily="34" charset="0"/>
                <a:ea typeface="Calibri" pitchFamily="34" charset="-122"/>
                <a:cs typeface="Calibri" pitchFamily="34" charset="-120"/>
              </a:rPr>
              <a:t>Type the company's real address directly into your browser (or use a bookmark you already trust) instead of clicking any link in the email.</a:t>
            </a:r>
            <a:endParaRPr lang="en-US" sz="1600" dirty="0"/>
          </a:p>
        </p:txBody>
      </p:sp>
      <p:sp>
        <p:nvSpPr>
          <p:cNvPr id="6" name="Text 3"/>
          <p:cNvSpPr/>
          <p:nvPr/>
        </p:nvSpPr>
        <p:spPr>
          <a:xfrm>
            <a:off x="914400" y="2651760"/>
            <a:ext cx="10332720" cy="3108960"/>
          </a:xfrm>
          <a:prstGeom prst="rect">
            <a:avLst/>
          </a:prstGeom>
          <a:noFill/>
          <a:ln/>
        </p:spPr>
        <p:txBody>
          <a:bodyPr wrap="square" rtlCol="0" anchor="ctr"/>
          <a:lstStyle/>
          <a:p>
            <a:pPr indent="0" marL="0">
              <a:lnSpc>
                <a:spcPct val="130000"/>
              </a:lnSpc>
              <a:buNone/>
            </a:pPr>
            <a:r>
              <a:rPr lang="en-US" sz="1400" dirty="0">
                <a:solidFill>
                  <a:srgbClr val="4A5568"/>
                </a:solidFill>
                <a:latin typeface="Calibri" pitchFamily="34" charset="0"/>
                <a:ea typeface="Calibri" pitchFamily="34" charset="-122"/>
                <a:cs typeface="Calibri" pitchFamily="34" charset="-120"/>
              </a:rPr>
              <a:t>Why the others fail:</a:t>
            </a:r>
            <a:endParaRPr lang="en-US" sz="1400" dirty="0"/>
          </a:p>
          <a:p>
            <a:pPr indent="0" marL="0">
              <a:lnSpc>
                <a:spcPct val="130000"/>
              </a:lnSpc>
              <a:buNone/>
            </a:pPr>
            <a:endParaRPr lang="en-US" sz="1400" dirty="0"/>
          </a:p>
          <a:p>
            <a:pPr indent="0" marL="0">
              <a:lnSpc>
                <a:spcPct val="130000"/>
              </a:lnSpc>
              <a:buNone/>
            </a:pPr>
            <a:r>
              <a:rPr lang="en-US" sz="1400" dirty="0">
                <a:solidFill>
                  <a:srgbClr val="4A5568"/>
                </a:solidFill>
                <a:latin typeface="Calibri" pitchFamily="34" charset="0"/>
                <a:ea typeface="Calibri" pitchFamily="34" charset="-122"/>
                <a:cs typeface="Calibri" pitchFamily="34" charset="-120"/>
              </a:rPr>
              <a:t>A) Clicking the link takes you to the attacker's fake login page, not the real service.</a:t>
            </a:r>
            <a:endParaRPr lang="en-US" sz="1400" dirty="0"/>
          </a:p>
          <a:p>
            <a:pPr indent="0" marL="0">
              <a:lnSpc>
                <a:spcPct val="130000"/>
              </a:lnSpc>
              <a:buNone/>
            </a:pPr>
            <a:r>
              <a:rPr lang="en-US" sz="1400" dirty="0">
                <a:solidFill>
                  <a:srgbClr val="4A5568"/>
                </a:solidFill>
                <a:latin typeface="Calibri" pitchFamily="34" charset="0"/>
                <a:ea typeface="Calibri" pitchFamily="34" charset="-122"/>
                <a:cs typeface="Calibri" pitchFamily="34" charset="-120"/>
              </a:rPr>
              <a:t>B) Replying confirms your address is active and being read — attackers often use this to escalate.</a:t>
            </a:r>
            <a:endParaRPr lang="en-US" sz="1400" dirty="0"/>
          </a:p>
          <a:p>
            <a:pPr indent="0" marL="0">
              <a:lnSpc>
                <a:spcPct val="130000"/>
              </a:lnSpc>
              <a:buNone/>
            </a:pPr>
            <a:r>
              <a:rPr lang="en-US" sz="1400" dirty="0">
                <a:solidFill>
                  <a:srgbClr val="4A5568"/>
                </a:solidFill>
                <a:latin typeface="Calibri" pitchFamily="34" charset="0"/>
                <a:ea typeface="Calibri" pitchFamily="34" charset="-122"/>
                <a:cs typeface="Calibri" pitchFamily="34" charset="-120"/>
              </a:rPr>
              <a:t>D) Forwarding spreads the risk to someone else instead of stopping it.</a:t>
            </a:r>
            <a:endParaRPr lang="en-US" sz="1400" dirty="0"/>
          </a:p>
          <a:p>
            <a:pPr indent="0" marL="0">
              <a:lnSpc>
                <a:spcPct val="130000"/>
              </a:lnSpc>
              <a:buNone/>
            </a:pPr>
            <a:endParaRPr lang="en-US" sz="1400" dirty="0"/>
          </a:p>
          <a:p>
            <a:pPr indent="0" marL="0">
              <a:lnSpc>
                <a:spcPct val="130000"/>
              </a:lnSpc>
              <a:buNone/>
            </a:pPr>
            <a:r>
              <a:rPr lang="en-US" sz="1400" dirty="0">
                <a:solidFill>
                  <a:srgbClr val="4A5568"/>
                </a:solidFill>
                <a:latin typeface="Calibri" pitchFamily="34" charset="0"/>
                <a:ea typeface="Calibri" pitchFamily="34" charset="-122"/>
                <a:cs typeface="Calibri" pitchFamily="34" charset="-120"/>
              </a:rPr>
              <a:t>Notice also: "paypa1-secure.com" uses a digit "1" instead of the letter "l" — a classic typosquatting trick.</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1F3B"/>
        </a:solidFill>
      </p:bgPr>
    </p:bg>
    <p:spTree>
      <p:nvGrpSpPr>
        <p:cNvPr id="1" name=""/>
        <p:cNvGrpSpPr/>
        <p:nvPr/>
      </p:nvGrpSpPr>
      <p:grpSpPr>
        <a:xfrm>
          <a:off x="0" y="0"/>
          <a:ext cx="0" cy="0"/>
          <a:chOff x="0" y="0"/>
          <a:chExt cx="0" cy="0"/>
        </a:xfrm>
      </p:grpSpPr>
      <p:pic>
        <p:nvPicPr>
          <p:cNvPr id="2" name="Image 0" descr="icon_quiz.png">    </p:cNvPr>
          <p:cNvPicPr>
            <a:picLocks noChangeAspect="1"/>
          </p:cNvPicPr>
          <p:nvPr/>
        </p:nvPicPr>
        <p:blipFill>
          <a:blip r:embed="rId1"/>
          <a:stretch>
            <a:fillRect/>
          </a:stretch>
        </p:blipFill>
        <p:spPr>
          <a:xfrm>
            <a:off x="548640" y="502920"/>
            <a:ext cx="640080" cy="640080"/>
          </a:xfrm>
          <a:prstGeom prst="rect">
            <a:avLst/>
          </a:prstGeom>
        </p:spPr>
      </p:pic>
      <p:sp>
        <p:nvSpPr>
          <p:cNvPr id="3" name="Text 0"/>
          <p:cNvSpPr/>
          <p:nvPr/>
        </p:nvSpPr>
        <p:spPr>
          <a:xfrm>
            <a:off x="1325880" y="548640"/>
            <a:ext cx="7315200" cy="548640"/>
          </a:xfrm>
          <a:prstGeom prst="rect">
            <a:avLst/>
          </a:prstGeom>
          <a:noFill/>
          <a:ln/>
        </p:spPr>
        <p:txBody>
          <a:bodyPr wrap="square" rtlCol="0" anchor="ctr"/>
          <a:lstStyle/>
          <a:p>
            <a:pPr indent="0" marL="0">
              <a:buNone/>
            </a:pPr>
            <a:r>
              <a:rPr lang="en-US" sz="2400" b="1" dirty="0">
                <a:solidFill>
                  <a:srgbClr val="F4F1EA"/>
                </a:solidFill>
                <a:latin typeface="Georgia" pitchFamily="34" charset="0"/>
                <a:ea typeface="Georgia" pitchFamily="34" charset="-122"/>
                <a:cs typeface="Georgia" pitchFamily="34" charset="-120"/>
              </a:rPr>
              <a:t>Quick Check — Question 2</a:t>
            </a:r>
            <a:endParaRPr lang="en-US" sz="2400" dirty="0"/>
          </a:p>
        </p:txBody>
      </p:sp>
      <p:sp>
        <p:nvSpPr>
          <p:cNvPr id="4" name="Text 1"/>
          <p:cNvSpPr/>
          <p:nvPr/>
        </p:nvSpPr>
        <p:spPr>
          <a:xfrm>
            <a:off x="548640" y="1554480"/>
            <a:ext cx="10789920" cy="1188720"/>
          </a:xfrm>
          <a:prstGeom prst="rect">
            <a:avLst/>
          </a:prstGeom>
          <a:noFill/>
          <a:ln/>
        </p:spPr>
        <p:txBody>
          <a:bodyPr wrap="square" rtlCol="0" anchor="ctr"/>
          <a:lstStyle/>
          <a:p>
            <a:pPr indent="0" marL="0">
              <a:lnSpc>
                <a:spcPct val="130000"/>
              </a:lnSpc>
              <a:buNone/>
            </a:pPr>
            <a:r>
              <a:rPr lang="en-US" sz="1700" dirty="0">
                <a:solidFill>
                  <a:srgbClr val="F4F1EA"/>
                </a:solidFill>
                <a:latin typeface="Calibri" pitchFamily="34" charset="0"/>
                <a:ea typeface="Calibri" pitchFamily="34" charset="-122"/>
                <a:cs typeface="Calibri" pitchFamily="34" charset="-120"/>
              </a:rPr>
              <a:t>Your "CEO" texts you asking you to urgently buy gift cards and send the codes for a "confidential client gift." What's the best response?</a:t>
            </a:r>
            <a:endParaRPr lang="en-US" sz="1700" dirty="0"/>
          </a:p>
        </p:txBody>
      </p:sp>
      <p:sp>
        <p:nvSpPr>
          <p:cNvPr id="5" name="Shape 2"/>
          <p:cNvSpPr/>
          <p:nvPr/>
        </p:nvSpPr>
        <p:spPr>
          <a:xfrm>
            <a:off x="548640" y="3108960"/>
            <a:ext cx="10789920" cy="594360"/>
          </a:xfrm>
          <a:prstGeom prst="rect">
            <a:avLst/>
          </a:prstGeom>
          <a:solidFill>
            <a:srgbClr val="2A2F55"/>
          </a:solidFill>
          <a:ln/>
        </p:spPr>
      </p:sp>
      <p:sp>
        <p:nvSpPr>
          <p:cNvPr id="6" name="Text 3"/>
          <p:cNvSpPr/>
          <p:nvPr/>
        </p:nvSpPr>
        <p:spPr>
          <a:xfrm>
            <a:off x="822960" y="3182112"/>
            <a:ext cx="10241280" cy="457200"/>
          </a:xfrm>
          <a:prstGeom prst="rect">
            <a:avLst/>
          </a:prstGeom>
          <a:noFill/>
          <a:ln/>
        </p:spPr>
        <p:txBody>
          <a:bodyPr wrap="square" rtlCol="0" anchor="ctr"/>
          <a:lstStyle/>
          <a:p>
            <a:pPr indent="0" marL="0">
              <a:buNone/>
            </a:pPr>
            <a:r>
              <a:rPr lang="en-US" sz="1400" dirty="0">
                <a:solidFill>
                  <a:srgbClr val="F4F1EA"/>
                </a:solidFill>
                <a:latin typeface="Calibri" pitchFamily="34" charset="0"/>
                <a:ea typeface="Calibri" pitchFamily="34" charset="-122"/>
                <a:cs typeface="Calibri" pitchFamily="34" charset="-120"/>
              </a:rPr>
              <a:t>A) Buy the gift cards quickly since it's urgent and from the CEO</a:t>
            </a:r>
            <a:endParaRPr lang="en-US" sz="1400" dirty="0"/>
          </a:p>
        </p:txBody>
      </p:sp>
      <p:sp>
        <p:nvSpPr>
          <p:cNvPr id="7" name="Shape 4"/>
          <p:cNvSpPr/>
          <p:nvPr/>
        </p:nvSpPr>
        <p:spPr>
          <a:xfrm>
            <a:off x="548640" y="3886200"/>
            <a:ext cx="10789920" cy="594360"/>
          </a:xfrm>
          <a:prstGeom prst="rect">
            <a:avLst/>
          </a:prstGeom>
          <a:solidFill>
            <a:srgbClr val="2A2F55"/>
          </a:solidFill>
          <a:ln/>
        </p:spPr>
      </p:sp>
      <p:sp>
        <p:nvSpPr>
          <p:cNvPr id="8" name="Text 5"/>
          <p:cNvSpPr/>
          <p:nvPr/>
        </p:nvSpPr>
        <p:spPr>
          <a:xfrm>
            <a:off x="822960" y="3959352"/>
            <a:ext cx="10241280" cy="457200"/>
          </a:xfrm>
          <a:prstGeom prst="rect">
            <a:avLst/>
          </a:prstGeom>
          <a:noFill/>
          <a:ln/>
        </p:spPr>
        <p:txBody>
          <a:bodyPr wrap="square" rtlCol="0" anchor="ctr"/>
          <a:lstStyle/>
          <a:p>
            <a:pPr indent="0" marL="0">
              <a:buNone/>
            </a:pPr>
            <a:r>
              <a:rPr lang="en-US" sz="1400" dirty="0">
                <a:solidFill>
                  <a:srgbClr val="F4F1EA"/>
                </a:solidFill>
                <a:latin typeface="Calibri" pitchFamily="34" charset="0"/>
                <a:ea typeface="Calibri" pitchFamily="34" charset="-122"/>
                <a:cs typeface="Calibri" pitchFamily="34" charset="-120"/>
              </a:rPr>
              <a:t>B) Text back to confirm details before doing anything</a:t>
            </a:r>
            <a:endParaRPr lang="en-US" sz="1400" dirty="0"/>
          </a:p>
        </p:txBody>
      </p:sp>
      <p:sp>
        <p:nvSpPr>
          <p:cNvPr id="9" name="Shape 6"/>
          <p:cNvSpPr/>
          <p:nvPr/>
        </p:nvSpPr>
        <p:spPr>
          <a:xfrm>
            <a:off x="548640" y="4663440"/>
            <a:ext cx="10789920" cy="594360"/>
          </a:xfrm>
          <a:prstGeom prst="rect">
            <a:avLst/>
          </a:prstGeom>
          <a:solidFill>
            <a:srgbClr val="2A2F55"/>
          </a:solidFill>
          <a:ln/>
        </p:spPr>
      </p:sp>
      <p:sp>
        <p:nvSpPr>
          <p:cNvPr id="10" name="Text 7"/>
          <p:cNvSpPr/>
          <p:nvPr/>
        </p:nvSpPr>
        <p:spPr>
          <a:xfrm>
            <a:off x="822960" y="4736592"/>
            <a:ext cx="10241280" cy="457200"/>
          </a:xfrm>
          <a:prstGeom prst="rect">
            <a:avLst/>
          </a:prstGeom>
          <a:noFill/>
          <a:ln/>
        </p:spPr>
        <p:txBody>
          <a:bodyPr wrap="square" rtlCol="0" anchor="ctr"/>
          <a:lstStyle/>
          <a:p>
            <a:pPr indent="0" marL="0">
              <a:buNone/>
            </a:pPr>
            <a:r>
              <a:rPr lang="en-US" sz="1400" dirty="0">
                <a:solidFill>
                  <a:srgbClr val="F4F1EA"/>
                </a:solidFill>
                <a:latin typeface="Calibri" pitchFamily="34" charset="0"/>
                <a:ea typeface="Calibri" pitchFamily="34" charset="-122"/>
                <a:cs typeface="Calibri" pitchFamily="34" charset="-120"/>
              </a:rPr>
              <a:t>C) Contact the CEO through a known, separate channel to verify</a:t>
            </a:r>
            <a:endParaRPr lang="en-US" sz="1400" dirty="0"/>
          </a:p>
        </p:txBody>
      </p:sp>
      <p:sp>
        <p:nvSpPr>
          <p:cNvPr id="11" name="Shape 8"/>
          <p:cNvSpPr/>
          <p:nvPr/>
        </p:nvSpPr>
        <p:spPr>
          <a:xfrm>
            <a:off x="548640" y="5440680"/>
            <a:ext cx="10789920" cy="594360"/>
          </a:xfrm>
          <a:prstGeom prst="rect">
            <a:avLst/>
          </a:prstGeom>
          <a:solidFill>
            <a:srgbClr val="2A2F55"/>
          </a:solidFill>
          <a:ln/>
        </p:spPr>
      </p:sp>
      <p:sp>
        <p:nvSpPr>
          <p:cNvPr id="12" name="Text 9"/>
          <p:cNvSpPr/>
          <p:nvPr/>
        </p:nvSpPr>
        <p:spPr>
          <a:xfrm>
            <a:off x="822960" y="5513832"/>
            <a:ext cx="10241280" cy="457200"/>
          </a:xfrm>
          <a:prstGeom prst="rect">
            <a:avLst/>
          </a:prstGeom>
          <a:noFill/>
          <a:ln/>
        </p:spPr>
        <p:txBody>
          <a:bodyPr wrap="square" rtlCol="0" anchor="ctr"/>
          <a:lstStyle/>
          <a:p>
            <a:pPr indent="0" marL="0">
              <a:buNone/>
            </a:pPr>
            <a:r>
              <a:rPr lang="en-US" sz="1400" dirty="0">
                <a:solidFill>
                  <a:srgbClr val="F4F1EA"/>
                </a:solidFill>
                <a:latin typeface="Calibri" pitchFamily="34" charset="0"/>
                <a:ea typeface="Calibri" pitchFamily="34" charset="-122"/>
                <a:cs typeface="Calibri" pitchFamily="34" charset="-120"/>
              </a:rPr>
              <a:t>D) Ask a coworker to buy the cards instead</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icon_check.png">    </p:cNvPr>
          <p:cNvPicPr>
            <a:picLocks noChangeAspect="1"/>
          </p:cNvPicPr>
          <p:nvPr/>
        </p:nvPicPr>
        <p:blipFill>
          <a:blip r:embed="rId1"/>
          <a:stretch>
            <a:fillRect/>
          </a:stretch>
        </p:blipFill>
        <p:spPr>
          <a:xfrm>
            <a:off x="548640" y="502920"/>
            <a:ext cx="685800" cy="685800"/>
          </a:xfrm>
          <a:prstGeom prst="rect">
            <a:avLst/>
          </a:prstGeom>
        </p:spPr>
      </p:pic>
      <p:sp>
        <p:nvSpPr>
          <p:cNvPr id="3" name="Text 0"/>
          <p:cNvSpPr/>
          <p:nvPr/>
        </p:nvSpPr>
        <p:spPr>
          <a:xfrm>
            <a:off x="1371600" y="548640"/>
            <a:ext cx="7315200" cy="548640"/>
          </a:xfrm>
          <a:prstGeom prst="rect">
            <a:avLst/>
          </a:prstGeom>
          <a:noFill/>
          <a:ln/>
        </p:spPr>
        <p:txBody>
          <a:bodyPr wrap="square" rtlCol="0" anchor="ctr"/>
          <a:lstStyle/>
          <a:p>
            <a:pPr indent="0" marL="0">
              <a:buNone/>
            </a:pPr>
            <a:r>
              <a:rPr lang="en-US" sz="2600" b="1" dirty="0">
                <a:solidFill>
                  <a:srgbClr val="2E9E5B"/>
                </a:solidFill>
                <a:latin typeface="Georgia" pitchFamily="34" charset="0"/>
                <a:ea typeface="Georgia" pitchFamily="34" charset="-122"/>
                <a:cs typeface="Georgia" pitchFamily="34" charset="-120"/>
              </a:rPr>
              <a:t>Answer: C</a:t>
            </a:r>
            <a:endParaRPr lang="en-US" sz="2600" dirty="0"/>
          </a:p>
        </p:txBody>
      </p:sp>
      <p:sp>
        <p:nvSpPr>
          <p:cNvPr id="4" name="Shape 1"/>
          <p:cNvSpPr/>
          <p:nvPr/>
        </p:nvSpPr>
        <p:spPr>
          <a:xfrm>
            <a:off x="548640" y="1554480"/>
            <a:ext cx="11064240" cy="4389120"/>
          </a:xfrm>
          <a:prstGeom prst="rect">
            <a:avLst/>
          </a:prstGeom>
          <a:solidFill>
            <a:srgbClr val="F2F3F7"/>
          </a:solidFill>
          <a:ln/>
        </p:spPr>
      </p:sp>
      <p:sp>
        <p:nvSpPr>
          <p:cNvPr id="5" name="Text 2"/>
          <p:cNvSpPr/>
          <p:nvPr/>
        </p:nvSpPr>
        <p:spPr>
          <a:xfrm>
            <a:off x="914400" y="1828800"/>
            <a:ext cx="10332720" cy="731520"/>
          </a:xfrm>
          <a:prstGeom prst="rect">
            <a:avLst/>
          </a:prstGeom>
          <a:noFill/>
          <a:ln/>
        </p:spPr>
        <p:txBody>
          <a:bodyPr wrap="square" rtlCol="0" anchor="ctr"/>
          <a:lstStyle/>
          <a:p>
            <a:pPr indent="0" marL="0">
              <a:buNone/>
            </a:pPr>
            <a:r>
              <a:rPr lang="en-US" sz="1600" b="1" dirty="0">
                <a:solidFill>
                  <a:srgbClr val="1B1F3B"/>
                </a:solidFill>
                <a:latin typeface="Calibri" pitchFamily="34" charset="0"/>
                <a:ea typeface="Calibri" pitchFamily="34" charset="-122"/>
                <a:cs typeface="Calibri" pitchFamily="34" charset="-120"/>
              </a:rPr>
              <a:t>Call or message the CEO through a phone number or channel you already know is real — never one provided in the suspicious message itself.</a:t>
            </a:r>
            <a:endParaRPr lang="en-US" sz="1600" dirty="0"/>
          </a:p>
        </p:txBody>
      </p:sp>
      <p:sp>
        <p:nvSpPr>
          <p:cNvPr id="6" name="Text 3"/>
          <p:cNvSpPr/>
          <p:nvPr/>
        </p:nvSpPr>
        <p:spPr>
          <a:xfrm>
            <a:off x="914400" y="2651760"/>
            <a:ext cx="10332720" cy="3108960"/>
          </a:xfrm>
          <a:prstGeom prst="rect">
            <a:avLst/>
          </a:prstGeom>
          <a:noFill/>
          <a:ln/>
        </p:spPr>
        <p:txBody>
          <a:bodyPr wrap="square" rtlCol="0" anchor="ctr"/>
          <a:lstStyle/>
          <a:p>
            <a:pPr indent="0" marL="0">
              <a:lnSpc>
                <a:spcPct val="130000"/>
              </a:lnSpc>
              <a:buNone/>
            </a:pPr>
            <a:r>
              <a:rPr lang="en-US" sz="1400" dirty="0">
                <a:solidFill>
                  <a:srgbClr val="4A5568"/>
                </a:solidFill>
                <a:latin typeface="Calibri" pitchFamily="34" charset="0"/>
                <a:ea typeface="Calibri" pitchFamily="34" charset="-122"/>
                <a:cs typeface="Calibri" pitchFamily="34" charset="-120"/>
              </a:rPr>
              <a:t>Why the others fail:</a:t>
            </a:r>
            <a:endParaRPr lang="en-US" sz="1400" dirty="0"/>
          </a:p>
          <a:p>
            <a:pPr indent="0" marL="0">
              <a:lnSpc>
                <a:spcPct val="130000"/>
              </a:lnSpc>
              <a:buNone/>
            </a:pPr>
            <a:endParaRPr lang="en-US" sz="1400" dirty="0"/>
          </a:p>
          <a:p>
            <a:pPr indent="0" marL="0">
              <a:lnSpc>
                <a:spcPct val="130000"/>
              </a:lnSpc>
              <a:buNone/>
            </a:pPr>
            <a:r>
              <a:rPr lang="en-US" sz="1400" dirty="0">
                <a:solidFill>
                  <a:srgbClr val="4A5568"/>
                </a:solidFill>
                <a:latin typeface="Calibri" pitchFamily="34" charset="0"/>
                <a:ea typeface="Calibri" pitchFamily="34" charset="-122"/>
                <a:cs typeface="Calibri" pitchFamily="34" charset="-120"/>
              </a:rPr>
              <a:t>A) This is a textbook gift-card scam — once codes are sent, the money is unrecoverable.</a:t>
            </a:r>
            <a:endParaRPr lang="en-US" sz="1400" dirty="0"/>
          </a:p>
          <a:p>
            <a:pPr indent="0" marL="0">
              <a:lnSpc>
                <a:spcPct val="130000"/>
              </a:lnSpc>
              <a:buNone/>
            </a:pPr>
            <a:r>
              <a:rPr lang="en-US" sz="1400" dirty="0">
                <a:solidFill>
                  <a:srgbClr val="4A5568"/>
                </a:solidFill>
                <a:latin typeface="Calibri" pitchFamily="34" charset="0"/>
                <a:ea typeface="Calibri" pitchFamily="34" charset="-122"/>
                <a:cs typeface="Calibri" pitchFamily="34" charset="-120"/>
              </a:rPr>
              <a:t>B) Texting back only reaches the attacker, not the real CEO — it can't verify anything.</a:t>
            </a:r>
            <a:endParaRPr lang="en-US" sz="1400" dirty="0"/>
          </a:p>
          <a:p>
            <a:pPr indent="0" marL="0">
              <a:lnSpc>
                <a:spcPct val="130000"/>
              </a:lnSpc>
              <a:buNone/>
            </a:pPr>
            <a:r>
              <a:rPr lang="en-US" sz="1400" dirty="0">
                <a:solidFill>
                  <a:srgbClr val="4A5568"/>
                </a:solidFill>
                <a:latin typeface="Calibri" pitchFamily="34" charset="0"/>
                <a:ea typeface="Calibri" pitchFamily="34" charset="-122"/>
                <a:cs typeface="Calibri" pitchFamily="34" charset="-120"/>
              </a:rPr>
              <a:t>D) This just moves the same risk onto a coworker instead of resolving it.</a:t>
            </a:r>
            <a:endParaRPr lang="en-US" sz="1400" dirty="0"/>
          </a:p>
          <a:p>
            <a:pPr indent="0" marL="0">
              <a:lnSpc>
                <a:spcPct val="130000"/>
              </a:lnSpc>
              <a:buNone/>
            </a:pPr>
            <a:endParaRPr lang="en-US" sz="1400" dirty="0"/>
          </a:p>
          <a:p>
            <a:pPr indent="0" marL="0">
              <a:lnSpc>
                <a:spcPct val="130000"/>
              </a:lnSpc>
              <a:buNone/>
            </a:pPr>
            <a:r>
              <a:rPr lang="en-US" sz="1400" dirty="0">
                <a:solidFill>
                  <a:srgbClr val="4A5568"/>
                </a:solidFill>
                <a:latin typeface="Calibri" pitchFamily="34" charset="0"/>
                <a:ea typeface="Calibri" pitchFamily="34" charset="-122"/>
                <a:cs typeface="Calibri" pitchFamily="34" charset="-120"/>
              </a:rPr>
              <a:t>This tactic combines Authority + Urgency, two of the social engineering levers from earlier.</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1F3B"/>
        </a:solidFill>
      </p:bgPr>
    </p:bg>
    <p:spTree>
      <p:nvGrpSpPr>
        <p:cNvPr id="1" name=""/>
        <p:cNvGrpSpPr/>
        <p:nvPr/>
      </p:nvGrpSpPr>
      <p:grpSpPr>
        <a:xfrm>
          <a:off x="0" y="0"/>
          <a:ext cx="0" cy="0"/>
          <a:chOff x="0" y="0"/>
          <a:chExt cx="0" cy="0"/>
        </a:xfrm>
      </p:grpSpPr>
      <p:sp>
        <p:nvSpPr>
          <p:cNvPr id="2" name="Shape 0"/>
          <p:cNvSpPr/>
          <p:nvPr/>
        </p:nvSpPr>
        <p:spPr>
          <a:xfrm>
            <a:off x="-1828800" y="4114800"/>
            <a:ext cx="5486400" cy="5486400"/>
          </a:xfrm>
          <a:prstGeom prst="ellipse">
            <a:avLst/>
          </a:prstGeom>
          <a:solidFill>
            <a:srgbClr val="12152B"/>
          </a:solidFill>
          <a:ln/>
        </p:spPr>
      </p:sp>
      <p:pic>
        <p:nvPicPr>
          <p:cNvPr id="3" name="Image 0" descr="icon_shield.png">    </p:cNvPr>
          <p:cNvPicPr>
            <a:picLocks noChangeAspect="1"/>
          </p:cNvPicPr>
          <p:nvPr/>
        </p:nvPicPr>
        <p:blipFill>
          <a:blip r:embed="rId1"/>
          <a:stretch>
            <a:fillRect/>
          </a:stretch>
        </p:blipFill>
        <p:spPr>
          <a:xfrm>
            <a:off x="9418320" y="640080"/>
            <a:ext cx="1188720" cy="1188720"/>
          </a:xfrm>
          <a:prstGeom prst="rect">
            <a:avLst/>
          </a:prstGeom>
        </p:spPr>
      </p:pic>
      <p:sp>
        <p:nvSpPr>
          <p:cNvPr id="4" name="Text 1"/>
          <p:cNvSpPr/>
          <p:nvPr/>
        </p:nvSpPr>
        <p:spPr>
          <a:xfrm>
            <a:off x="640080" y="914400"/>
            <a:ext cx="8686800" cy="822960"/>
          </a:xfrm>
          <a:prstGeom prst="rect">
            <a:avLst/>
          </a:prstGeom>
          <a:noFill/>
          <a:ln/>
        </p:spPr>
        <p:txBody>
          <a:bodyPr wrap="square" rtlCol="0" anchor="ctr"/>
          <a:lstStyle/>
          <a:p>
            <a:pPr indent="0" marL="0">
              <a:buNone/>
            </a:pPr>
            <a:r>
              <a:rPr lang="en-US" sz="3400" b="1" dirty="0">
                <a:solidFill>
                  <a:srgbClr val="F4F1EA"/>
                </a:solidFill>
                <a:latin typeface="Georgia" pitchFamily="34" charset="0"/>
                <a:ea typeface="Georgia" pitchFamily="34" charset="-122"/>
                <a:cs typeface="Georgia" pitchFamily="34" charset="-120"/>
              </a:rPr>
              <a:t>If in Doubt, Don't Click</a:t>
            </a:r>
            <a:endParaRPr lang="en-US" sz="3400" dirty="0"/>
          </a:p>
        </p:txBody>
      </p:sp>
      <p:sp>
        <p:nvSpPr>
          <p:cNvPr id="5" name="Text 2"/>
          <p:cNvSpPr/>
          <p:nvPr/>
        </p:nvSpPr>
        <p:spPr>
          <a:xfrm>
            <a:off x="640080" y="1600200"/>
            <a:ext cx="8229600" cy="457200"/>
          </a:xfrm>
          <a:prstGeom prst="rect">
            <a:avLst/>
          </a:prstGeom>
          <a:noFill/>
          <a:ln/>
        </p:spPr>
        <p:txBody>
          <a:bodyPr wrap="square" rtlCol="0" anchor="ctr"/>
          <a:lstStyle/>
          <a:p>
            <a:pPr indent="0" marL="0">
              <a:buNone/>
            </a:pPr>
            <a:r>
              <a:rPr lang="en-US" sz="1700" i="1" dirty="0">
                <a:solidFill>
                  <a:srgbClr val="E4572E"/>
                </a:solidFill>
              </a:rPr>
              <a:t>Verify independently. Report immediately.</a:t>
            </a:r>
            <a:endParaRPr lang="en-US" sz="1700" dirty="0"/>
          </a:p>
        </p:txBody>
      </p:sp>
      <p:sp>
        <p:nvSpPr>
          <p:cNvPr id="6" name="Shape 3"/>
          <p:cNvSpPr/>
          <p:nvPr/>
        </p:nvSpPr>
        <p:spPr>
          <a:xfrm>
            <a:off x="640080" y="2606040"/>
            <a:ext cx="146304" cy="146304"/>
          </a:xfrm>
          <a:prstGeom prst="ellipse">
            <a:avLst/>
          </a:prstGeom>
          <a:solidFill>
            <a:srgbClr val="E4572E"/>
          </a:solidFill>
          <a:ln/>
        </p:spPr>
      </p:sp>
      <p:sp>
        <p:nvSpPr>
          <p:cNvPr id="7" name="Text 4"/>
          <p:cNvSpPr/>
          <p:nvPr/>
        </p:nvSpPr>
        <p:spPr>
          <a:xfrm>
            <a:off x="960120" y="2468880"/>
            <a:ext cx="9601200" cy="548640"/>
          </a:xfrm>
          <a:prstGeom prst="rect">
            <a:avLst/>
          </a:prstGeom>
          <a:noFill/>
          <a:ln/>
        </p:spPr>
        <p:txBody>
          <a:bodyPr wrap="square" rtlCol="0" anchor="ctr"/>
          <a:lstStyle/>
          <a:p>
            <a:pPr indent="0" marL="0">
              <a:buNone/>
            </a:pPr>
            <a:r>
              <a:rPr lang="en-US" sz="1600" dirty="0">
                <a:solidFill>
                  <a:srgbClr val="F4F1EA"/>
                </a:solidFill>
                <a:latin typeface="Calibri" pitchFamily="34" charset="0"/>
                <a:ea typeface="Calibri" pitchFamily="34" charset="-122"/>
                <a:cs typeface="Calibri" pitchFamily="34" charset="-120"/>
              </a:rPr>
              <a:t>Pause on urgency — attackers manufacture time pressure on purpose</a:t>
            </a:r>
            <a:endParaRPr lang="en-US" sz="1600" dirty="0"/>
          </a:p>
        </p:txBody>
      </p:sp>
      <p:sp>
        <p:nvSpPr>
          <p:cNvPr id="8" name="Shape 5"/>
          <p:cNvSpPr/>
          <p:nvPr/>
        </p:nvSpPr>
        <p:spPr>
          <a:xfrm>
            <a:off x="640080" y="3291840"/>
            <a:ext cx="146304" cy="146304"/>
          </a:xfrm>
          <a:prstGeom prst="ellipse">
            <a:avLst/>
          </a:prstGeom>
          <a:solidFill>
            <a:srgbClr val="E4572E"/>
          </a:solidFill>
          <a:ln/>
        </p:spPr>
      </p:sp>
      <p:sp>
        <p:nvSpPr>
          <p:cNvPr id="9" name="Text 6"/>
          <p:cNvSpPr/>
          <p:nvPr/>
        </p:nvSpPr>
        <p:spPr>
          <a:xfrm>
            <a:off x="960120" y="3154680"/>
            <a:ext cx="9601200" cy="548640"/>
          </a:xfrm>
          <a:prstGeom prst="rect">
            <a:avLst/>
          </a:prstGeom>
          <a:noFill/>
          <a:ln/>
        </p:spPr>
        <p:txBody>
          <a:bodyPr wrap="square" rtlCol="0" anchor="ctr"/>
          <a:lstStyle/>
          <a:p>
            <a:pPr indent="0" marL="0">
              <a:buNone/>
            </a:pPr>
            <a:r>
              <a:rPr lang="en-US" sz="1600" dirty="0">
                <a:solidFill>
                  <a:srgbClr val="F4F1EA"/>
                </a:solidFill>
                <a:latin typeface="Calibri" pitchFamily="34" charset="0"/>
                <a:ea typeface="Calibri" pitchFamily="34" charset="-122"/>
                <a:cs typeface="Calibri" pitchFamily="34" charset="-120"/>
              </a:rPr>
              <a:t>Verify through a channel you already trust, not one they gave you</a:t>
            </a:r>
            <a:endParaRPr lang="en-US" sz="1600" dirty="0"/>
          </a:p>
        </p:txBody>
      </p:sp>
      <p:sp>
        <p:nvSpPr>
          <p:cNvPr id="10" name="Shape 7"/>
          <p:cNvSpPr/>
          <p:nvPr/>
        </p:nvSpPr>
        <p:spPr>
          <a:xfrm>
            <a:off x="640080" y="3977640"/>
            <a:ext cx="146304" cy="146304"/>
          </a:xfrm>
          <a:prstGeom prst="ellipse">
            <a:avLst/>
          </a:prstGeom>
          <a:solidFill>
            <a:srgbClr val="E4572E"/>
          </a:solidFill>
          <a:ln/>
        </p:spPr>
      </p:sp>
      <p:sp>
        <p:nvSpPr>
          <p:cNvPr id="11" name="Text 8"/>
          <p:cNvSpPr/>
          <p:nvPr/>
        </p:nvSpPr>
        <p:spPr>
          <a:xfrm>
            <a:off x="960120" y="3840480"/>
            <a:ext cx="9601200" cy="548640"/>
          </a:xfrm>
          <a:prstGeom prst="rect">
            <a:avLst/>
          </a:prstGeom>
          <a:noFill/>
          <a:ln/>
        </p:spPr>
        <p:txBody>
          <a:bodyPr wrap="square" rtlCol="0" anchor="ctr"/>
          <a:lstStyle/>
          <a:p>
            <a:pPr indent="0" marL="0">
              <a:buNone/>
            </a:pPr>
            <a:r>
              <a:rPr lang="en-US" sz="1600" dirty="0">
                <a:solidFill>
                  <a:srgbClr val="F4F1EA"/>
                </a:solidFill>
                <a:latin typeface="Calibri" pitchFamily="34" charset="0"/>
                <a:ea typeface="Calibri" pitchFamily="34" charset="-122"/>
                <a:cs typeface="Calibri" pitchFamily="34" charset="-120"/>
              </a:rPr>
              <a:t>Report suspicious messages to your security team right away</a:t>
            </a:r>
            <a:endParaRPr lang="en-US" sz="1600" dirty="0"/>
          </a:p>
        </p:txBody>
      </p:sp>
      <p:sp>
        <p:nvSpPr>
          <p:cNvPr id="12" name="Shape 9"/>
          <p:cNvSpPr/>
          <p:nvPr/>
        </p:nvSpPr>
        <p:spPr>
          <a:xfrm>
            <a:off x="640080" y="4663440"/>
            <a:ext cx="146304" cy="146304"/>
          </a:xfrm>
          <a:prstGeom prst="ellipse">
            <a:avLst/>
          </a:prstGeom>
          <a:solidFill>
            <a:srgbClr val="E4572E"/>
          </a:solidFill>
          <a:ln/>
        </p:spPr>
      </p:sp>
      <p:sp>
        <p:nvSpPr>
          <p:cNvPr id="13" name="Text 10"/>
          <p:cNvSpPr/>
          <p:nvPr/>
        </p:nvSpPr>
        <p:spPr>
          <a:xfrm>
            <a:off x="960120" y="4526280"/>
            <a:ext cx="9601200" cy="548640"/>
          </a:xfrm>
          <a:prstGeom prst="rect">
            <a:avLst/>
          </a:prstGeom>
          <a:noFill/>
          <a:ln/>
        </p:spPr>
        <p:txBody>
          <a:bodyPr wrap="square" rtlCol="0" anchor="ctr"/>
          <a:lstStyle/>
          <a:p>
            <a:pPr indent="0" marL="0">
              <a:buNone/>
            </a:pPr>
            <a:r>
              <a:rPr lang="en-US" sz="1600" dirty="0">
                <a:solidFill>
                  <a:srgbClr val="F4F1EA"/>
                </a:solidFill>
                <a:latin typeface="Calibri" pitchFamily="34" charset="0"/>
                <a:ea typeface="Calibri" pitchFamily="34" charset="-122"/>
                <a:cs typeface="Calibri" pitchFamily="34" charset="-120"/>
              </a:rPr>
              <a:t>Everyone is a target — staying alert protects the whole organization</a:t>
            </a:r>
            <a:endParaRPr lang="en-US" sz="1600" dirty="0"/>
          </a:p>
        </p:txBody>
      </p:sp>
      <p:sp>
        <p:nvSpPr>
          <p:cNvPr id="14" name="Text 11"/>
          <p:cNvSpPr/>
          <p:nvPr/>
        </p:nvSpPr>
        <p:spPr>
          <a:xfrm>
            <a:off x="640080" y="6309360"/>
            <a:ext cx="10058400" cy="365760"/>
          </a:xfrm>
          <a:prstGeom prst="rect">
            <a:avLst/>
          </a:prstGeom>
          <a:noFill/>
          <a:ln/>
        </p:spPr>
        <p:txBody>
          <a:bodyPr wrap="square" rtlCol="0" anchor="ctr"/>
          <a:lstStyle/>
          <a:p>
            <a:pPr indent="0" marL="0">
              <a:buNone/>
            </a:pPr>
            <a:r>
              <a:rPr lang="en-US" sz="1200" dirty="0">
                <a:solidFill>
                  <a:srgbClr val="8890B5"/>
                </a:solidFill>
              </a:rPr>
              <a:t>Thank you  •  CodeAlpha Cybersecurity Internship — Task 2: Phishing Awareness Training</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2026-07-13T05:58:39Z</dcterms:created>
  <dcterms:modified xsi:type="dcterms:W3CDTF">2026-07-13T05:58:39Z</dcterms:modified>
</cp:coreProperties>
</file>